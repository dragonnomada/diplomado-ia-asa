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propósito: construir un lenguaje común antes de estudiar arquitecturas de conocimiento, lógica difusa, ontologías y optimización.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secuencia avanza desde el concepto general hacia una formulación matemática y una aplicación operativa.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un modelo aislado puede resolver una tarea sin constituir un sistema cognitivo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un ejemplo breve: un sensor produce una alerta, el sistema la interpreta, decide inspeccionar y usa el resultado para actualizar su confianza.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la distinción para evitar llamar sistema cognitivo a cualquier predictor. ACT-R y Soar pertenecen al nivel de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Subrayar que toda representación selecciona información. Ninguna es universalmente mejor; su calidad depende de la tarea.</a:t>
            </a:r>
          </a:p>
          <a:p>
            <a:endParaRPr/>
          </a:p>
          <a:p>
            <a:r>
              <a:t>Fuentes:</a:t>
            </a:r>
          </a:p>
          <a:p>
            <a:r>
              <a:t>- Newell, A. y Simon, H. A. (1976). Computer Science as Empirical Inquiry: Symbols and Search. https://doi.org/10.1145/360018.360022</a:t>
            </a:r>
          </a:p>
          <a:p>
            <a:r>
              <a:t>- Zadeh, L. A. (1965). Fuzzy Sets. https://doi.org/10.1016/S0019-9958(65)90241-X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distinción prepara la comparación de ACT-R y Soar. Una organización también externaliza memoria en procedimientos, pantallas y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el estado no es el mundo completo, sino la representación relevante. Las reglas proponen, evalúan y aplican operadores.</a:t>
            </a:r>
          </a:p>
          <a:p>
            <a:endParaRPr/>
          </a:p>
          <a:p>
            <a:r>
              <a:t>Fuentes:</a:t>
            </a:r>
          </a:p>
          <a:p>
            <a:r>
              <a:t>- Soar Group. The Soar Architecture. https://soar.eecs.umich.edu/soar_manual/02_TheSoarArchitecture/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buffers comunican módulos. ACT-R intenta predecir respuestas, tiempos y errores humanos, no sólo resolver una tarea.</a:t>
            </a:r>
          </a:p>
          <a:p>
            <a:endParaRPr/>
          </a:p>
          <a:p>
            <a:r>
              <a:t>Fuentes:</a:t>
            </a:r>
          </a:p>
          <a:p>
            <a:r>
              <a:t>- ACT-R Research Group, Carnegie Mellon University. https://act-r.psy.cmu.edu/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cadena de Markov es un proceso de Markov con estados discretos y sin acciones. El MDP añade decisiones; el POMDP añade observación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propiedad de Markov depende del diseño del estado. Si la antigüedad del equipo afecta su degradación y se omite, el estado resulta insuficiente.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 tupla M = &lt;S, A, T, R, Ω, O, γ&gt;. Evitar profundizar todavía en algoritmos de solución.</a:t>
            </a:r>
          </a:p>
          <a:p>
            <a:endParaRPr/>
          </a:p>
          <a:p>
            <a:r>
              <a:t>Fuentes:</a:t>
            </a:r>
          </a:p>
          <a:p>
            <a:r>
              <a:t>- Kaelbling, L. P., Littman, M. L. y Cassandra, A. R. (1998). https://doi.org/10.1016/S0004-3702(98)00023-X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los valores del ejemplo de notas: P(C)=0.02, sensibilidad=0.90 y falso positivo=0.05. El posterior es 0.018/(0.018+0.049). Aclarar que una alerta no equivale a certeza.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Valores didácticos: liberar si libre +10; liberar si existe condición insegura -1000; inspeccionar -8. El umbral resulta p &lt; 18/1010. La operación real requiere normativa y especialistas.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diseño conceptual prepara los temas 1.2 a 1.5. En sistemas críticos, las reglas duras deben filtrar opciones antes de optimizar preferencias.</a:t>
            </a:r>
          </a:p>
          <a:p>
            <a:endParaRPr/>
          </a:p>
          <a:p>
            <a:r>
              <a:t>Fuentes:</a:t>
            </a:r>
          </a:p>
          <a:p>
            <a:r>
              <a:t>- NASA Aerospace Cognitive Engineering Laboratory. https://www.nasa.gov/human-systems-integration-division/integration-and-evaluation/aerospace-cognitive-engineering/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Evitar presentar los logros como inteligencia general. Cada caso opera bajo objetivos, datos y límites distintos.</a:t>
            </a:r>
          </a:p>
          <a:p>
            <a:endParaRPr/>
          </a:p>
          <a:p>
            <a:r>
              <a:t>Fuentes:</a:t>
            </a:r>
          </a:p>
          <a:p>
            <a:r>
              <a:t>- Ferrucci, D. et al. Building Watson. https://research.ibm.com/publications/building-watson-an-overview-of-the-deepqa-project</a:t>
            </a:r>
          </a:p>
          <a:p>
            <a:r>
              <a:t>- Silver, D. et al. (2016). https://www.nature.com/articles/nature16961</a:t>
            </a:r>
          </a:p>
          <a:p>
            <a:r>
              <a:t>- NASA Aerospace Cognitive Engineering Laboratory. https://www.nasa.gov/human-systems-integration-division/integration-and-evaluation/aerospace-cognitive-engineering/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Discutir sesgo de automatización y pérdida de práctica. La autonomía adecuada depende de incertidumbre, reversibilidad, severidad y tiempo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Agregar evaluación por cambio de distribución, procedencia y desempeño del equipo humano–IA según el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cronología es selectiva. Destacar que datos, cómputo, interfaces y organización también impulsan los avances.</a:t>
            </a:r>
          </a:p>
          <a:p>
            <a:endParaRPr/>
          </a:p>
          <a:p>
            <a:r>
              <a:t>Fuentes:</a:t>
            </a:r>
          </a:p>
          <a:p>
            <a:r>
              <a:t>- Turing, A. M. (1950). Computing Machinery and Intelligence. https://turingarchive.kings.cam.ac.uk/publications-lectures-and-talks-amtb/amt-b-9</a:t>
            </a:r>
          </a:p>
          <a:p>
            <a:r>
              <a:t>- McCarthy et al. (1955). Dartmouth proposal. https://www-formal.stanford.edu/jmc/history/dartmouth.pdf</a:t>
            </a:r>
          </a:p>
          <a:p>
            <a:r>
              <a:t>- Vaswani et al. (2017). Attention Is All You Need. https://proceedings.neurips.cc/paper/7181-attention-is-all-you-need.pdf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el recorrido conceptual: cada tema posterior profundiza una pieza del ciclo cognitivo.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Utilizar la pregunta final para discusión. Pedir que los participantes nombren un proceso, una observación incierta y una decisión asociada.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lámina documenta el lenguaje visual para futuras presentaciones. Conservar tipografía, márgenes, contraste y número máximo de elementos; variar la composición según el contenido.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4C7400D-B764-422F-BD8D-B0602695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C7D77B4-8B88-4B86-AEC2-60F54573F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DDE31EE-7B4C-4D22-9ECA-465C4C0C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B18609F-1493-49F0-BF46-8841ACF1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EBE1B98-A933-4881-B054-DA1BD1509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2C84B3-77D5-4931-A285-B253A987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8465A85-13FB-431D-97B2-33DE8D847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E20052B-4F54-4658-B796-595AFAB6366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0C105D-67E8-46CD-93BF-C327ACE4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EC1EE3B-BB9B-4596-A412-B5C0DA959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B4CC9B6-DE70-4E58-8FCF-03498C459C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8E5BE151-7C63-4216-BFD7-921CC233CA07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3810000" cy="3810000"/>
          </a:xfrm>
          <a:prstGeom prst="ellipse">
            <a:avLst/>
          </a:prstGeom>
          <a:solidFill>
            <a:srgbClr val="0B3B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654D7CE-2530-4024-8D10-18C1998B0504}"/>
              </a:ext>
            </a:extLst>
          </p:cNvPr>
          <p:cNvSpPr>
            <a:spLocks noGrp="1"/>
          </p:cNvSpPr>
          <p:nvPr/>
        </p:nvSpPr>
        <p:spPr>
          <a:xfrm>
            <a:off x="9620250" y="1619250"/>
            <a:ext cx="2571750" cy="2571750"/>
          </a:xfrm>
          <a:prstGeom prst="ellipse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D641BAB-162B-447C-9A64-53BF79CFE4C7}"/>
              </a:ext>
            </a:extLst>
          </p:cNvPr>
          <p:cNvSpPr>
            <a:spLocks noGrp="1"/>
          </p:cNvSpPr>
          <p:nvPr/>
        </p:nvSpPr>
        <p:spPr>
          <a:xfrm>
            <a:off x="10001250" y="3905250"/>
            <a:ext cx="2190750" cy="21907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B11A53-2083-4D9E-AE66-0A69329A03A6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MÓDULO 1.1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42EDEF7-B098-4AC4-B24C-8454A0AA6AB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14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Fundamentos de</a:t>
            </a:r>
          </a:p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sistemas cognitivos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7EF408-6035-4FA6-8253-A2573075FE96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E6F4F7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E6F4F7"/>
                </a:solidFill>
                <a:latin typeface="Avenir Next"/>
                <a:ea typeface="Avenir Next"/>
                <a:cs typeface="Avenir Next"/>
              </a:rPr>
              <a:t>Una guía para comprender cómo un sistema percibe, representa, decide y aprende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F591CD-D8B2-4597-8506-E44E65725D09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 dirty="0" err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Diplomado</a:t>
            </a:r>
            <a:r>
              <a:rPr b="1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b="1" dirty="0" err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</a:t>
            </a:r>
            <a:r>
              <a:rPr b="1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b="1" dirty="0" err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Inteligencia</a:t>
            </a:r>
            <a:r>
              <a:rPr b="1" dirty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Artificial</a:t>
            </a:r>
            <a:endParaRPr lang="es-419" b="1" dirty="0">
              <a:solidFill>
                <a:srgbClr val="FFFFFF"/>
              </a:solidFill>
              <a:latin typeface="Avenir Next"/>
              <a:ea typeface="Avenir Next"/>
              <a:cs typeface="Avenir Next"/>
            </a:endParaRPr>
          </a:p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lang="es-MX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Alan Badillo Salas</a:t>
            </a:r>
            <a:endParaRPr b="1" dirty="0">
              <a:solidFill>
                <a:schemeClr val="accent4">
                  <a:lumMod val="40000"/>
                  <a:lumOff val="60000"/>
                </a:schemeClr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23973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882153E2-CB30-4A12-8F72-4CDA3AD12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180D86-5280-4FC8-8A81-7EBBFD14AA86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PANORAMA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2A659A1-A6DD-472D-A6CA-2B44F5C51990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Ruta de la sesión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1D37D33-2A9B-42DE-BFB5-58196FFF72D9}"/>
              </a:ext>
            </a:extLst>
          </p:cNvPr>
          <p:cNvSpPr>
            <a:spLocks noGrp="1"/>
          </p:cNvSpPr>
          <p:nvPr/>
        </p:nvSpPr>
        <p:spPr>
          <a:xfrm>
            <a:off x="1394460" y="1952625"/>
            <a:ext cx="533400" cy="53340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08EA87C6-8EAE-4B28-BAF3-B1052B00BEBF}"/>
              </a:ext>
            </a:extLst>
          </p:cNvPr>
          <p:cNvSpPr>
            <a:spLocks noGrp="1"/>
          </p:cNvSpPr>
          <p:nvPr/>
        </p:nvSpPr>
        <p:spPr>
          <a:xfrm>
            <a:off x="1946910" y="221932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2B84C0-E4CF-41F7-A587-5730A5A2A4B7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Sistema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D4F6BC-B304-495C-90D7-3D55BF7D7FEE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Qué capacidades forman un ciclo cognitivo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73E0E9A-EC15-4504-9A01-D933730BB0A8}"/>
              </a:ext>
            </a:extLst>
          </p:cNvPr>
          <p:cNvSpPr>
            <a:spLocks noGrp="1"/>
          </p:cNvSpPr>
          <p:nvPr/>
        </p:nvSpPr>
        <p:spPr>
          <a:xfrm>
            <a:off x="3611880" y="1952625"/>
            <a:ext cx="533400" cy="533400"/>
          </a:xfrm>
          <a:prstGeom prst="ellipse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A12E3067-0B57-4D3C-8F12-4C7F5D6E07DE}"/>
              </a:ext>
            </a:extLst>
          </p:cNvPr>
          <p:cNvSpPr>
            <a:spLocks noGrp="1"/>
          </p:cNvSpPr>
          <p:nvPr/>
        </p:nvSpPr>
        <p:spPr>
          <a:xfrm>
            <a:off x="4164330" y="221932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E02C210-20D8-4B51-933A-B40846F64B85}"/>
              </a:ext>
            </a:extLst>
          </p:cNvPr>
          <p:cNvSpPr>
            <a:spLocks noGrp="1"/>
          </p:cNvSpPr>
          <p:nvPr/>
        </p:nvSpPr>
        <p:spPr>
          <a:xfrm>
            <a:off x="2827020" y="265747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Arquitectura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641D8BF-B67E-4B9A-9AAC-B545A10AB837}"/>
              </a:ext>
            </a:extLst>
          </p:cNvPr>
          <p:cNvSpPr>
            <a:spLocks noGrp="1"/>
          </p:cNvSpPr>
          <p:nvPr/>
        </p:nvSpPr>
        <p:spPr>
          <a:xfrm>
            <a:off x="2827020" y="326707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se organizan memoria y decisión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AD5174-7951-46F5-B53E-2B9EB8EC751A}"/>
              </a:ext>
            </a:extLst>
          </p:cNvPr>
          <p:cNvSpPr>
            <a:spLocks noGrp="1"/>
          </p:cNvSpPr>
          <p:nvPr/>
        </p:nvSpPr>
        <p:spPr>
          <a:xfrm>
            <a:off x="5829300" y="1952625"/>
            <a:ext cx="533400" cy="533400"/>
          </a:xfrm>
          <a:prstGeom prst="ellipse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C1267C5A-4B8F-4C57-B51F-03B18FED0769}"/>
              </a:ext>
            </a:extLst>
          </p:cNvPr>
          <p:cNvSpPr>
            <a:spLocks noGrp="1"/>
          </p:cNvSpPr>
          <p:nvPr/>
        </p:nvSpPr>
        <p:spPr>
          <a:xfrm>
            <a:off x="6381750" y="221932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A7BA615-5DC7-44E6-9492-C33B5CE53E04}"/>
              </a:ext>
            </a:extLst>
          </p:cNvPr>
          <p:cNvSpPr>
            <a:spLocks noGrp="1"/>
          </p:cNvSpPr>
          <p:nvPr/>
        </p:nvSpPr>
        <p:spPr>
          <a:xfrm>
            <a:off x="5044440" y="265747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Incertidumbre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CAED66B-38E9-426B-8E09-6350AC65FE03}"/>
              </a:ext>
            </a:extLst>
          </p:cNvPr>
          <p:cNvSpPr>
            <a:spLocks noGrp="1"/>
          </p:cNvSpPr>
          <p:nvPr/>
        </p:nvSpPr>
        <p:spPr>
          <a:xfrm>
            <a:off x="5044440" y="326707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Qué cambia cuando el estado no se observa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1062C44-31CE-4336-AB88-E70050B14A64}"/>
              </a:ext>
            </a:extLst>
          </p:cNvPr>
          <p:cNvSpPr>
            <a:spLocks noGrp="1"/>
          </p:cNvSpPr>
          <p:nvPr/>
        </p:nvSpPr>
        <p:spPr>
          <a:xfrm>
            <a:off x="8046720" y="1952625"/>
            <a:ext cx="533400" cy="5334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D949AAC3-A2D2-40D4-A3E4-1ED22673B4C3}"/>
              </a:ext>
            </a:extLst>
          </p:cNvPr>
          <p:cNvSpPr>
            <a:spLocks noGrp="1"/>
          </p:cNvSpPr>
          <p:nvPr/>
        </p:nvSpPr>
        <p:spPr>
          <a:xfrm>
            <a:off x="8599170" y="221932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7E35366-4D6E-47BC-B17C-E248FCE675E9}"/>
              </a:ext>
            </a:extLst>
          </p:cNvPr>
          <p:cNvSpPr>
            <a:spLocks noGrp="1"/>
          </p:cNvSpPr>
          <p:nvPr/>
        </p:nvSpPr>
        <p:spPr>
          <a:xfrm>
            <a:off x="7261860" y="265747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Aplicación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3EA7AF0-78BE-4C74-955B-B7319E85FBCA}"/>
              </a:ext>
            </a:extLst>
          </p:cNvPr>
          <p:cNvSpPr>
            <a:spLocks noGrp="1"/>
          </p:cNvSpPr>
          <p:nvPr/>
        </p:nvSpPr>
        <p:spPr>
          <a:xfrm>
            <a:off x="7261860" y="326707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integrar modelos, reglas y personas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01D5560-661E-4F6F-8D35-FAAD8C63AC55}"/>
              </a:ext>
            </a:extLst>
          </p:cNvPr>
          <p:cNvSpPr>
            <a:spLocks noGrp="1"/>
          </p:cNvSpPr>
          <p:nvPr/>
        </p:nvSpPr>
        <p:spPr>
          <a:xfrm>
            <a:off x="10264140" y="1952625"/>
            <a:ext cx="533400" cy="533400"/>
          </a:xfrm>
          <a:prstGeom prst="ellipse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C543AAB-46B0-4F54-AC32-38EF8CEF7C15}"/>
              </a:ext>
            </a:extLst>
          </p:cNvPr>
          <p:cNvSpPr>
            <a:spLocks noGrp="1"/>
          </p:cNvSpPr>
          <p:nvPr/>
        </p:nvSpPr>
        <p:spPr>
          <a:xfrm>
            <a:off x="9479280" y="265747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Evaluación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DB576CD-3183-4A93-B5DB-89F758049BB7}"/>
              </a:ext>
            </a:extLst>
          </p:cNvPr>
          <p:cNvSpPr>
            <a:spLocks noGrp="1"/>
          </p:cNvSpPr>
          <p:nvPr/>
        </p:nvSpPr>
        <p:spPr>
          <a:xfrm>
            <a:off x="9479280" y="326707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medir desempeño y seguridad</a:t>
            </a:r>
          </a:p>
        </p:txBody>
      </p:sp>
    </p:spTree>
    <p:extLst>
      <p:ext uri="{BB962C8B-B14F-4D97-AF65-F5344CB8AC3E}">
        <p14:creationId xmlns:p14="http://schemas.microsoft.com/office/powerpoint/2010/main" val="109488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F276359-94E9-420D-B6A6-421C308897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EE4B20-D4BF-47F3-9BDA-582CDABC4C58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CONCEPTO BASE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957B47-78BF-429A-AFD7-948D5F7C01E9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Sistema cognitivo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0E83263-79CE-488D-A417-42768655E284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7524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Un agente mantiene información sobre el entorno y la utiliza para elegir acciones orientadas a una meta.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A5A8010-D63C-4818-B6F9-5B64B33FCB60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2095500" cy="2095500"/>
          </a:xfrm>
          <a:prstGeom prst="ellipse">
            <a:avLst/>
          </a:prstGeom>
          <a:solidFill>
            <a:srgbClr val="E6F4F7"/>
          </a:solidFill>
          <a:ln w="381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3A66180-F5B9-4CC0-B0D0-0595E14050D7}"/>
              </a:ext>
            </a:extLst>
          </p:cNvPr>
          <p:cNvSpPr>
            <a:spLocks noGrp="1"/>
          </p:cNvSpPr>
          <p:nvPr/>
        </p:nvSpPr>
        <p:spPr>
          <a:xfrm>
            <a:off x="9191625" y="2143125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ENTORNO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5A9BE8-1058-4210-8FC7-D69700BC447F}"/>
              </a:ext>
            </a:extLst>
          </p:cNvPr>
          <p:cNvSpPr>
            <a:spLocks noGrp="1"/>
          </p:cNvSpPr>
          <p:nvPr/>
        </p:nvSpPr>
        <p:spPr>
          <a:xfrm>
            <a:off x="9191625" y="27813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AGENTE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C8E2F18-4A63-4EC0-AEE4-CC57C14E344F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Tres condiciones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AF664C-2C2C-4748-BF79-362AB133F8B6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1  Conserva estado o memoria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871B322-0EE1-4CA5-9FBC-96BDA4E034CF}"/>
              </a:ext>
            </a:extLst>
          </p:cNvPr>
          <p:cNvSpPr>
            <a:spLocks noGrp="1"/>
          </p:cNvSpPr>
          <p:nvPr/>
        </p:nvSpPr>
        <p:spPr>
          <a:xfrm>
            <a:off x="4419600" y="4362450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2  Compara acciones posibles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99DD57E-12FB-4B1F-AD30-B0A967D8419F}"/>
              </a:ext>
            </a:extLst>
          </p:cNvPr>
          <p:cNvSpPr>
            <a:spLocks noGrp="1"/>
          </p:cNvSpPr>
          <p:nvPr/>
        </p:nvSpPr>
        <p:spPr>
          <a:xfrm>
            <a:off x="8039100" y="4362450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3  Aprende de los resultados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020B86D-2960-45F8-8815-1052C6C02B7D}"/>
              </a:ext>
            </a:extLst>
          </p:cNvPr>
          <p:cNvSpPr>
            <a:spLocks noGrp="1"/>
          </p:cNvSpPr>
          <p:nvPr/>
        </p:nvSpPr>
        <p:spPr>
          <a:xfrm>
            <a:off x="800100" y="5476875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Capacidad cognitiva no implica conciencia</a:t>
            </a:r>
          </a:p>
        </p:txBody>
      </p:sp>
    </p:spTree>
    <p:extLst>
      <p:ext uri="{BB962C8B-B14F-4D97-AF65-F5344CB8AC3E}">
        <p14:creationId xmlns:p14="http://schemas.microsoft.com/office/powerpoint/2010/main" val="40738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5F5CD23D-F8BF-4B83-9A51-2BE5E30CF9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0E58F4-6C41-45BB-8241-C972E161BD41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FUNCIONAMIENTO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F4F7359-D627-49E1-BCAF-4B2282706EC1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El ciclo cognitivo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E7593E4-09A3-4F74-B1B3-195712F4AD47}"/>
              </a:ext>
            </a:extLst>
          </p:cNvPr>
          <p:cNvSpPr>
            <a:spLocks noGrp="1"/>
          </p:cNvSpPr>
          <p:nvPr/>
        </p:nvSpPr>
        <p:spPr>
          <a:xfrm>
            <a:off x="1394460" y="1857375"/>
            <a:ext cx="533400" cy="533400"/>
          </a:xfrm>
          <a:prstGeom prst="ellipse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FF19F71A-D171-4BFB-BE53-DC555CBD17B5}"/>
              </a:ext>
            </a:extLst>
          </p:cNvPr>
          <p:cNvSpPr>
            <a:spLocks noGrp="1"/>
          </p:cNvSpPr>
          <p:nvPr/>
        </p:nvSpPr>
        <p:spPr>
          <a:xfrm>
            <a:off x="1946910" y="212407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053E46-FE62-4ECD-A37D-5B0D892DC0E5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Percibir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0E72525-418D-466A-9446-5777C114CC80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Convertir señales en observaciones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5DD6272-6AF9-409F-B5E4-8A7E74FA6268}"/>
              </a:ext>
            </a:extLst>
          </p:cNvPr>
          <p:cNvSpPr>
            <a:spLocks noGrp="1"/>
          </p:cNvSpPr>
          <p:nvPr/>
        </p:nvSpPr>
        <p:spPr>
          <a:xfrm>
            <a:off x="3611880" y="1857375"/>
            <a:ext cx="533400" cy="53340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6340DBAF-93F1-4A1B-BFA7-7A5693113FFB}"/>
              </a:ext>
            </a:extLst>
          </p:cNvPr>
          <p:cNvSpPr>
            <a:spLocks noGrp="1"/>
          </p:cNvSpPr>
          <p:nvPr/>
        </p:nvSpPr>
        <p:spPr>
          <a:xfrm>
            <a:off x="4164330" y="212407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417542-CB34-4436-ABD6-CCA127BA7BF1}"/>
              </a:ext>
            </a:extLst>
          </p:cNvPr>
          <p:cNvSpPr>
            <a:spLocks noGrp="1"/>
          </p:cNvSpPr>
          <p:nvPr/>
        </p:nvSpPr>
        <p:spPr>
          <a:xfrm>
            <a:off x="2827020" y="256222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Representar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DACF9E8-CBC4-458A-A3EC-7876BC021526}"/>
              </a:ext>
            </a:extLst>
          </p:cNvPr>
          <p:cNvSpPr>
            <a:spLocks noGrp="1"/>
          </p:cNvSpPr>
          <p:nvPr/>
        </p:nvSpPr>
        <p:spPr>
          <a:xfrm>
            <a:off x="2827020" y="317182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Construir una descripción útil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B3FE3F0-E63D-40B5-9438-D46209D70EAC}"/>
              </a:ext>
            </a:extLst>
          </p:cNvPr>
          <p:cNvSpPr>
            <a:spLocks noGrp="1"/>
          </p:cNvSpPr>
          <p:nvPr/>
        </p:nvSpPr>
        <p:spPr>
          <a:xfrm>
            <a:off x="5829300" y="1857375"/>
            <a:ext cx="533400" cy="533400"/>
          </a:xfrm>
          <a:prstGeom prst="ellipse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6CC752B1-7F32-46EB-AB0B-E0C3349866AA}"/>
              </a:ext>
            </a:extLst>
          </p:cNvPr>
          <p:cNvSpPr>
            <a:spLocks noGrp="1"/>
          </p:cNvSpPr>
          <p:nvPr/>
        </p:nvSpPr>
        <p:spPr>
          <a:xfrm>
            <a:off x="6381750" y="212407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0ACE9C7-E49C-4A4F-87E5-31442AD67E8C}"/>
              </a:ext>
            </a:extLst>
          </p:cNvPr>
          <p:cNvSpPr>
            <a:spLocks noGrp="1"/>
          </p:cNvSpPr>
          <p:nvPr/>
        </p:nvSpPr>
        <p:spPr>
          <a:xfrm>
            <a:off x="5044440" y="256222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Razonar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B818B6E-2B3A-40AE-B894-6E10D288FB2A}"/>
              </a:ext>
            </a:extLst>
          </p:cNvPr>
          <p:cNvSpPr>
            <a:spLocks noGrp="1"/>
          </p:cNvSpPr>
          <p:nvPr/>
        </p:nvSpPr>
        <p:spPr>
          <a:xfrm>
            <a:off x="5044440" y="317182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Comparar hipótesis y consecuencias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F4B0A88-ED40-411C-9C09-4840B4DD79B4}"/>
              </a:ext>
            </a:extLst>
          </p:cNvPr>
          <p:cNvSpPr>
            <a:spLocks noGrp="1"/>
          </p:cNvSpPr>
          <p:nvPr/>
        </p:nvSpPr>
        <p:spPr>
          <a:xfrm>
            <a:off x="8046720" y="1857375"/>
            <a:ext cx="533400" cy="5334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E37EA873-2791-4960-A3DC-E12421A5CA0D}"/>
              </a:ext>
            </a:extLst>
          </p:cNvPr>
          <p:cNvSpPr>
            <a:spLocks noGrp="1"/>
          </p:cNvSpPr>
          <p:nvPr/>
        </p:nvSpPr>
        <p:spPr>
          <a:xfrm>
            <a:off x="8599170" y="2124075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A9D2151-1F40-4F83-8E72-09B5C04B51E5}"/>
              </a:ext>
            </a:extLst>
          </p:cNvPr>
          <p:cNvSpPr>
            <a:spLocks noGrp="1"/>
          </p:cNvSpPr>
          <p:nvPr/>
        </p:nvSpPr>
        <p:spPr>
          <a:xfrm>
            <a:off x="7261860" y="256222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Actuar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8E65CDF-7B91-44C5-BE85-841DA5E0D399}"/>
              </a:ext>
            </a:extLst>
          </p:cNvPr>
          <p:cNvSpPr>
            <a:spLocks noGrp="1"/>
          </p:cNvSpPr>
          <p:nvPr/>
        </p:nvSpPr>
        <p:spPr>
          <a:xfrm>
            <a:off x="7261860" y="317182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Intervenir o recomendar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965C850-A963-4D59-8868-C9BD4043778F}"/>
              </a:ext>
            </a:extLst>
          </p:cNvPr>
          <p:cNvSpPr>
            <a:spLocks noGrp="1"/>
          </p:cNvSpPr>
          <p:nvPr/>
        </p:nvSpPr>
        <p:spPr>
          <a:xfrm>
            <a:off x="10264140" y="1857375"/>
            <a:ext cx="533400" cy="533400"/>
          </a:xfrm>
          <a:prstGeom prst="ellipse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8FF9D83-4BAD-4464-9E6E-64ABF39ADC32}"/>
              </a:ext>
            </a:extLst>
          </p:cNvPr>
          <p:cNvSpPr>
            <a:spLocks noGrp="1"/>
          </p:cNvSpPr>
          <p:nvPr/>
        </p:nvSpPr>
        <p:spPr>
          <a:xfrm>
            <a:off x="9479280" y="2562225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Aprender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9D23AFA-ECBA-470A-8000-851BEB9F8A1B}"/>
              </a:ext>
            </a:extLst>
          </p:cNvPr>
          <p:cNvSpPr>
            <a:spLocks noGrp="1"/>
          </p:cNvSpPr>
          <p:nvPr/>
        </p:nvSpPr>
        <p:spPr>
          <a:xfrm>
            <a:off x="9479280" y="3171825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Actualizar memoria o estrategia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DB03804-A89E-43BB-A675-15077635E1D7}"/>
              </a:ext>
            </a:extLst>
          </p:cNvPr>
          <p:cNvSpPr>
            <a:spLocks noGrp="1"/>
          </p:cNvSpPr>
          <p:nvPr/>
        </p:nvSpPr>
        <p:spPr>
          <a:xfrm>
            <a:off x="1695450" y="5381625"/>
            <a:ext cx="885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La retroalimentación cierra el ciclo y convierte resultados en nueva evidencia</a:t>
            </a:r>
          </a:p>
        </p:txBody>
      </p:sp>
    </p:spTree>
    <p:extLst>
      <p:ext uri="{BB962C8B-B14F-4D97-AF65-F5344CB8AC3E}">
        <p14:creationId xmlns:p14="http://schemas.microsoft.com/office/powerpoint/2010/main" val="115322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2A626102-0B10-49FE-9C47-77D040BC04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FE479F-90DF-449D-8437-CF8CF2BC8A24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NIVELES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E91CE8B-FF78-4612-8988-11F9F7A16187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Modelo, arquitectura y sistema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7BC8DBF-BC39-4A04-B541-1F8A0BEC0778}"/>
              </a:ext>
            </a:extLst>
          </p:cNvPr>
          <p:cNvSpPr>
            <a:spLocks noGrp="1"/>
          </p:cNvSpPr>
          <p:nvPr/>
        </p:nvSpPr>
        <p:spPr>
          <a:xfrm>
            <a:off x="590550" y="1714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0244F7-B4AE-4136-A49D-15074B7FC875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Modelo de 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511720-F46A-4BB1-A119-68F3F3754A7D}"/>
              </a:ext>
            </a:extLst>
          </p:cNvPr>
          <p:cNvSpPr>
            <a:spLocks noGrp="1"/>
          </p:cNvSpPr>
          <p:nvPr/>
        </p:nvSpPr>
        <p:spPr>
          <a:xfrm>
            <a:off x="590550" y="30670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Resuelve una función delimitada.</a:t>
            </a:r>
          </a:p>
          <a:p>
            <a:endParaRPr b="0">
              <a:solidFill>
                <a:srgbClr val="506876"/>
              </a:solidFill>
              <a:latin typeface="Avenir Next"/>
              <a:ea typeface="Avenir Next"/>
              <a:cs typeface="Avenir Next"/>
            </a:endParaRPr>
          </a:p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Ejemplo: clasificar una imagen.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C9DF83-BD88-4AD4-AAE4-4BEB11F7888A}"/>
              </a:ext>
            </a:extLst>
          </p:cNvPr>
          <p:cNvSpPr>
            <a:spLocks noGrp="1"/>
          </p:cNvSpPr>
          <p:nvPr/>
        </p:nvSpPr>
        <p:spPr>
          <a:xfrm>
            <a:off x="590550" y="48196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Unidad: tarea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4FEF0CD8-4845-4B70-99AE-1DCC6A4154C5}"/>
              </a:ext>
            </a:extLst>
          </p:cNvPr>
          <p:cNvSpPr>
            <a:spLocks noGrp="1"/>
          </p:cNvSpPr>
          <p:nvPr/>
        </p:nvSpPr>
        <p:spPr>
          <a:xfrm>
            <a:off x="4095750" y="1828800"/>
            <a:ext cx="0" cy="367665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9C5F11-5162-4980-862E-ECFA1C1FB2BE}"/>
              </a:ext>
            </a:extLst>
          </p:cNvPr>
          <p:cNvSpPr>
            <a:spLocks noGrp="1"/>
          </p:cNvSpPr>
          <p:nvPr/>
        </p:nvSpPr>
        <p:spPr>
          <a:xfrm>
            <a:off x="4400550" y="1714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2812E66-F934-47F9-8FCD-0C9F30376373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Arquitectura cognitiva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FFE6B0-081A-493B-93CA-118D6FA8EBDC}"/>
              </a:ext>
            </a:extLst>
          </p:cNvPr>
          <p:cNvSpPr>
            <a:spLocks noGrp="1"/>
          </p:cNvSpPr>
          <p:nvPr/>
        </p:nvSpPr>
        <p:spPr>
          <a:xfrm>
            <a:off x="4400550" y="30670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Define memorias, representaciones y mecanismos de decisión.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A280FB2-8F04-4EFD-8CD8-7708F457EACC}"/>
              </a:ext>
            </a:extLst>
          </p:cNvPr>
          <p:cNvSpPr>
            <a:spLocks noGrp="1"/>
          </p:cNvSpPr>
          <p:nvPr/>
        </p:nvSpPr>
        <p:spPr>
          <a:xfrm>
            <a:off x="4400550" y="48196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Unidad: organización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F43907E9-4A85-4321-97C4-A66F720F487A}"/>
              </a:ext>
            </a:extLst>
          </p:cNvPr>
          <p:cNvSpPr>
            <a:spLocks noGrp="1"/>
          </p:cNvSpPr>
          <p:nvPr/>
        </p:nvSpPr>
        <p:spPr>
          <a:xfrm>
            <a:off x="7905750" y="1828800"/>
            <a:ext cx="0" cy="367665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B5D6679-4440-49DA-B9AF-E7891ED02630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5325FF3-2297-49BC-BB09-145389DDE393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Sistema cognitivo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FC9EA1A-F6CA-4408-BEBF-A703AAA596EC}"/>
              </a:ext>
            </a:extLst>
          </p:cNvPr>
          <p:cNvSpPr>
            <a:spLocks noGrp="1"/>
          </p:cNvSpPr>
          <p:nvPr/>
        </p:nvSpPr>
        <p:spPr>
          <a:xfrm>
            <a:off x="8210550" y="30670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Integra datos, metas, acciones, personas y retroalimentación.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2ADDC5-29E1-456B-AE27-8693CB6C0878}"/>
              </a:ext>
            </a:extLst>
          </p:cNvPr>
          <p:cNvSpPr>
            <a:spLocks noGrp="1"/>
          </p:cNvSpPr>
          <p:nvPr/>
        </p:nvSpPr>
        <p:spPr>
          <a:xfrm>
            <a:off x="8210550" y="48196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Unidad: ciclo completo</a:t>
            </a:r>
          </a:p>
        </p:txBody>
      </p:sp>
    </p:spTree>
    <p:extLst>
      <p:ext uri="{BB962C8B-B14F-4D97-AF65-F5344CB8AC3E}">
        <p14:creationId xmlns:p14="http://schemas.microsoft.com/office/powerpoint/2010/main" val="191365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9CE171FB-25A8-4E43-8D4C-95D32D8D84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5B6105B-3ADF-4490-A6AB-B3B4BDDB83AA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REPRESENTACIÓN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07B434-671C-4FFE-8161-EE92CB95ECF4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Cuatro formas de representar conocimiento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527779-6A08-43F4-B6F3-D5687DAA33F2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Forma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107E25-0FA0-4394-A657-79AFFC75BC0B}"/>
              </a:ext>
            </a:extLst>
          </p:cNvPr>
          <p:cNvSpPr>
            <a:spLocks noGrp="1"/>
          </p:cNvSpPr>
          <p:nvPr/>
        </p:nvSpPr>
        <p:spPr>
          <a:xfrm>
            <a:off x="3333750" y="16002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Aporta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31977E-C47B-4921-B49F-23B9A3C69B23}"/>
              </a:ext>
            </a:extLst>
          </p:cNvPr>
          <p:cNvSpPr>
            <a:spLocks noGrp="1"/>
          </p:cNvSpPr>
          <p:nvPr/>
        </p:nvSpPr>
        <p:spPr>
          <a:xfrm>
            <a:off x="7334250" y="16002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Reto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CE802B-1995-4E22-8CAA-93ADE3D3D5F9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14300" cy="5524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71DB6-FDF5-4A3F-B85B-28686AB0C760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REGLAS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ACA9E7-38AE-4886-A4EE-F3C93FD2CA5F}"/>
              </a:ext>
            </a:extLst>
          </p:cNvPr>
          <p:cNvSpPr>
            <a:spLocks noGrp="1"/>
          </p:cNvSpPr>
          <p:nvPr/>
        </p:nvSpPr>
        <p:spPr>
          <a:xfrm>
            <a:off x="3333750" y="2190750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Procedimientos y explicaciones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931F790-531A-4CA4-B53A-8B24F8ED9BDA}"/>
              </a:ext>
            </a:extLst>
          </p:cNvPr>
          <p:cNvSpPr>
            <a:spLocks noGrp="1"/>
          </p:cNvSpPr>
          <p:nvPr/>
        </p:nvSpPr>
        <p:spPr>
          <a:xfrm>
            <a:off x="7334250" y="2190750"/>
            <a:ext cx="400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Frágiles ante excepciones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CDFBC6FE-7041-41BB-910A-C85190F3BCD2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648950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33D522-E29D-4643-BAA9-182CEDFE6081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14300" cy="55245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9942CBC-99C8-4DF1-AFE6-E192FBCFAB84}"/>
              </a:ext>
            </a:extLst>
          </p:cNvPr>
          <p:cNvSpPr>
            <a:spLocks noGrp="1"/>
          </p:cNvSpPr>
          <p:nvPr/>
        </p:nvSpPr>
        <p:spPr>
          <a:xfrm>
            <a:off x="990600" y="3095625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PROBABILIDADES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A588054-FDD4-4365-A70D-A4BF6B5FB51E}"/>
              </a:ext>
            </a:extLst>
          </p:cNvPr>
          <p:cNvSpPr>
            <a:spLocks noGrp="1"/>
          </p:cNvSpPr>
          <p:nvPr/>
        </p:nvSpPr>
        <p:spPr>
          <a:xfrm>
            <a:off x="3333750" y="3095625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Evidencia y riesgo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06FAD7-EAEF-442C-950E-57C08F742DD8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400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Dependen de supuestos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B9D85C14-8C98-4F74-817D-BD8023A9A199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10648950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0B77821-0077-498A-AF90-CB507F6B1499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14300" cy="55245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F7DC1F-EA1C-4B7A-872D-39E1EBF2EF2C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CONJUNTOS DIFUSOS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78397CA-562E-42A1-8EC3-6688B7E0C4B5}"/>
              </a:ext>
            </a:extLst>
          </p:cNvPr>
          <p:cNvSpPr>
            <a:spLocks noGrp="1"/>
          </p:cNvSpPr>
          <p:nvPr/>
        </p:nvSpPr>
        <p:spPr>
          <a:xfrm>
            <a:off x="3333750" y="4000500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Conceptos graduales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6B0F3FA-45C3-4506-8FBB-7915B91E8F65}"/>
              </a:ext>
            </a:extLst>
          </p:cNvPr>
          <p:cNvSpPr>
            <a:spLocks noGrp="1"/>
          </p:cNvSpPr>
          <p:nvPr/>
        </p:nvSpPr>
        <p:spPr>
          <a:xfrm>
            <a:off x="7334250" y="4000500"/>
            <a:ext cx="400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Requieren funciones de pertenencia</a:t>
            </a: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381A2F20-623A-4245-8DC7-BE81EFFA7EB8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10648950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4BAB5D-5D3A-4B40-BE2E-7AE6F76D3430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14300" cy="552450"/>
          </a:xfrm>
          <a:prstGeom prst="rect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9A3A24B-F082-415B-9E9E-93AB2AC1D574}"/>
              </a:ext>
            </a:extLst>
          </p:cNvPr>
          <p:cNvSpPr>
            <a:spLocks noGrp="1"/>
          </p:cNvSpPr>
          <p:nvPr/>
        </p:nvSpPr>
        <p:spPr>
          <a:xfrm>
            <a:off x="990600" y="4905375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GRAFOS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78FFB87-6CBB-4536-B1DE-9A40D4AEF3F1}"/>
              </a:ext>
            </a:extLst>
          </p:cNvPr>
          <p:cNvSpPr>
            <a:spLocks noGrp="1"/>
          </p:cNvSpPr>
          <p:nvPr/>
        </p:nvSpPr>
        <p:spPr>
          <a:xfrm>
            <a:off x="3333750" y="4905375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Entidades y relaciones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6F7F2E1-A5EE-4966-ACF7-058F6A564DCF}"/>
              </a:ext>
            </a:extLst>
          </p:cNvPr>
          <p:cNvSpPr>
            <a:spLocks noGrp="1"/>
          </p:cNvSpPr>
          <p:nvPr/>
        </p:nvSpPr>
        <p:spPr>
          <a:xfrm>
            <a:off x="7334250" y="4905375"/>
            <a:ext cx="400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Exigen gobierno semántico</a:t>
            </a:r>
          </a:p>
        </p:txBody>
      </p:sp>
    </p:spTree>
    <p:extLst>
      <p:ext uri="{BB962C8B-B14F-4D97-AF65-F5344CB8AC3E}">
        <p14:creationId xmlns:p14="http://schemas.microsoft.com/office/powerpoint/2010/main" val="20119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5A81E466-CA48-49C9-9BA8-0D7DD0BCD8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7E0345-63B8-491E-8EE2-62B12EAA48EF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BA2A07-04CD-4396-8D2E-B362E8D6225A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La memoria organiza la experiencia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DA456C-924C-46B5-9790-10ADC614EF30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0BF99C-2E76-46C6-9031-5854E5D5CF02}"/>
              </a:ext>
            </a:extLst>
          </p:cNvPr>
          <p:cNvSpPr>
            <a:spLocks noGrp="1"/>
          </p:cNvSpPr>
          <p:nvPr/>
        </p:nvSpPr>
        <p:spPr>
          <a:xfrm>
            <a:off x="1466850" y="16192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TRABAJO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BD90A6-83B0-4C9A-BE23-31ED3DAA0C2F}"/>
              </a:ext>
            </a:extLst>
          </p:cNvPr>
          <p:cNvSpPr>
            <a:spLocks noGrp="1"/>
          </p:cNvSpPr>
          <p:nvPr/>
        </p:nvSpPr>
        <p:spPr>
          <a:xfrm>
            <a:off x="4095750" y="1619250"/>
            <a:ext cx="300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Foco actual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0D50908-1FC5-4D09-9BD6-94BAF9A05D14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alertas activas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D6AEB53-F8E6-427A-BB3A-4F1BF7C97413}"/>
              </a:ext>
            </a:extLst>
          </p:cNvPr>
          <p:cNvSpPr>
            <a:spLocks noGrp="1"/>
          </p:cNvSpPr>
          <p:nvPr/>
        </p:nvSpPr>
        <p:spPr>
          <a:xfrm>
            <a:off x="1466850" y="2305050"/>
            <a:ext cx="9867900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D78F27-FB5F-4C6F-A3BD-351FC1EA0443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9E0F13-FBD8-4957-87A2-2C8A2EFA37D0}"/>
              </a:ext>
            </a:extLst>
          </p:cNvPr>
          <p:cNvSpPr>
            <a:spLocks noGrp="1"/>
          </p:cNvSpPr>
          <p:nvPr/>
        </p:nvSpPr>
        <p:spPr>
          <a:xfrm>
            <a:off x="1466850" y="26860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SEMÁNTICA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F660ED-7555-4973-8FEF-8EE3B1696672}"/>
              </a:ext>
            </a:extLst>
          </p:cNvPr>
          <p:cNvSpPr>
            <a:spLocks noGrp="1"/>
          </p:cNvSpPr>
          <p:nvPr/>
        </p:nvSpPr>
        <p:spPr>
          <a:xfrm>
            <a:off x="4095750" y="2686050"/>
            <a:ext cx="300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Hechos y conceptos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CD71540-492D-4A36-8669-7C03A4936993}"/>
              </a:ext>
            </a:extLst>
          </p:cNvPr>
          <p:cNvSpPr>
            <a:spLocks noGrp="1"/>
          </p:cNvSpPr>
          <p:nvPr/>
        </p:nvSpPr>
        <p:spPr>
          <a:xfrm>
            <a:off x="7524750" y="26860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activos y ubicaciones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54D81E48-FFF7-4517-B064-00B010AFB64C}"/>
              </a:ext>
            </a:extLst>
          </p:cNvPr>
          <p:cNvSpPr>
            <a:spLocks noGrp="1"/>
          </p:cNvSpPr>
          <p:nvPr/>
        </p:nvSpPr>
        <p:spPr>
          <a:xfrm>
            <a:off x="1466850" y="3371850"/>
            <a:ext cx="9867900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31A8FFB-8EFB-400A-BF6E-8079466D861F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CF48086-55C2-430B-8472-E7142576FC7D}"/>
              </a:ext>
            </a:extLst>
          </p:cNvPr>
          <p:cNvSpPr>
            <a:spLocks noGrp="1"/>
          </p:cNvSpPr>
          <p:nvPr/>
        </p:nvSpPr>
        <p:spPr>
          <a:xfrm>
            <a:off x="1466850" y="37528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EPISÓDICA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B09AED-1040-4EE1-B595-42C2AF2B4FD4}"/>
              </a:ext>
            </a:extLst>
          </p:cNvPr>
          <p:cNvSpPr>
            <a:spLocks noGrp="1"/>
          </p:cNvSpPr>
          <p:nvPr/>
        </p:nvSpPr>
        <p:spPr>
          <a:xfrm>
            <a:off x="4095750" y="3752850"/>
            <a:ext cx="300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Eventos contextualizados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705730-590C-49F0-BCCC-127CB702F60B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incidente del turno anterior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276B7D11-AB8A-4302-B36D-4D9CF4D3873C}"/>
              </a:ext>
            </a:extLst>
          </p:cNvPr>
          <p:cNvSpPr>
            <a:spLocks noGrp="1"/>
          </p:cNvSpPr>
          <p:nvPr/>
        </p:nvSpPr>
        <p:spPr>
          <a:xfrm>
            <a:off x="1466850" y="4438650"/>
            <a:ext cx="9867900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7FBDAF-262D-4469-AB58-BA81B2C46F6E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2C14E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0B5BFAA-1E79-4865-9F82-9D21B6BBAB5A}"/>
              </a:ext>
            </a:extLst>
          </p:cNvPr>
          <p:cNvSpPr>
            <a:spLocks noGrp="1"/>
          </p:cNvSpPr>
          <p:nvPr/>
        </p:nvSpPr>
        <p:spPr>
          <a:xfrm>
            <a:off x="1466850" y="48196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PROCEDIMENTAL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3576DE4-59CD-493A-94E9-B0E30D3AFA18}"/>
              </a:ext>
            </a:extLst>
          </p:cNvPr>
          <p:cNvSpPr>
            <a:spLocks noGrp="1"/>
          </p:cNvSpPr>
          <p:nvPr/>
        </p:nvSpPr>
        <p:spPr>
          <a:xfrm>
            <a:off x="4095750" y="4819650"/>
            <a:ext cx="300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Reglas y habilidades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003AF1C-82A2-4931-8B4D-C6C1B0DFA4EB}"/>
              </a:ext>
            </a:extLst>
          </p:cNvPr>
          <p:cNvSpPr>
            <a:spLocks noGrp="1"/>
          </p:cNvSpPr>
          <p:nvPr/>
        </p:nvSpPr>
        <p:spPr>
          <a:xfrm>
            <a:off x="7524750" y="48196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secuencia de inspección</a:t>
            </a:r>
          </a:p>
        </p:txBody>
      </p:sp>
    </p:spTree>
    <p:extLst>
      <p:ext uri="{BB962C8B-B14F-4D97-AF65-F5344CB8AC3E}">
        <p14:creationId xmlns:p14="http://schemas.microsoft.com/office/powerpoint/2010/main" val="71872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29C20C4-68A6-4413-AC55-92F7B54B15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4F13F6-7DD4-415B-8C84-74982B7A8538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ARQUITECTURA COGNITIVA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E5DD94-B62C-48CE-B1F6-ED55726C08E5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Soar: resolver problemas mediante operadores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9D48728-98EE-4060-951E-1EAB31BADC11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2476500" cy="24765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0E5A7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FE9DBE-D56E-439B-8CB0-BD86D2472A3B}"/>
              </a:ext>
            </a:extLst>
          </p:cNvPr>
          <p:cNvSpPr>
            <a:spLocks noGrp="1"/>
          </p:cNvSpPr>
          <p:nvPr/>
        </p:nvSpPr>
        <p:spPr>
          <a:xfrm>
            <a:off x="1123950" y="2476500"/>
            <a:ext cx="194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ESTADO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0B128D-39B6-46A2-A09C-1461E934446D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1905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85" lnSpcReduction="10000"/>
          </a:bodyPr>
          <a:lstStyle>
            <a:def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Representación de la situación actual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D541C65-B63D-4F0D-9DE8-C6BDE8DAB119}"/>
              </a:ext>
            </a:extLst>
          </p:cNvPr>
          <p:cNvSpPr>
            <a:spLocks noGrp="1"/>
          </p:cNvSpPr>
          <p:nvPr/>
        </p:nvSpPr>
        <p:spPr>
          <a:xfrm>
            <a:off x="3467100" y="3190875"/>
            <a:ext cx="876300" cy="0"/>
          </a:xfrm>
          <a:prstGeom prst="line">
            <a:avLst/>
          </a:prstGeom>
          <a:noFill/>
          <a:ln w="3810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DF4998-7E6B-4EBE-8D5E-20D880AF6D1A}"/>
              </a:ext>
            </a:extLst>
          </p:cNvPr>
          <p:cNvSpPr>
            <a:spLocks noGrp="1"/>
          </p:cNvSpPr>
          <p:nvPr/>
        </p:nvSpPr>
        <p:spPr>
          <a:xfrm>
            <a:off x="4429125" y="1952625"/>
            <a:ext cx="2476500" cy="24765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44ECBA0-9EC2-4D4C-AE36-DA3653A1E50C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94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OPERADOR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F64ED2-114E-4EE6-9315-07B0F502361B}"/>
              </a:ext>
            </a:extLst>
          </p:cNvPr>
          <p:cNvSpPr>
            <a:spLocks noGrp="1"/>
          </p:cNvSpPr>
          <p:nvPr/>
        </p:nvSpPr>
        <p:spPr>
          <a:xfrm>
            <a:off x="4714875" y="3095625"/>
            <a:ext cx="1905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85" lnSpcReduction="10000"/>
          </a:bodyPr>
          <a:lstStyle>
            <a:def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Transformación propuesta y seleccionada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C8AC7E00-D25F-470F-8462-0A4D1DEC0AAF}"/>
              </a:ext>
            </a:extLst>
          </p:cNvPr>
          <p:cNvSpPr>
            <a:spLocks noGrp="1"/>
          </p:cNvSpPr>
          <p:nvPr/>
        </p:nvSpPr>
        <p:spPr>
          <a:xfrm>
            <a:off x="7038975" y="3190875"/>
            <a:ext cx="876300" cy="0"/>
          </a:xfrm>
          <a:prstGeom prst="line">
            <a:avLst/>
          </a:prstGeom>
          <a:noFill/>
          <a:ln w="3810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1E7FE99-8D5F-4BB2-8F20-5984E487DD10}"/>
              </a:ext>
            </a:extLst>
          </p:cNvPr>
          <p:cNvSpPr>
            <a:spLocks noGrp="1"/>
          </p:cNvSpPr>
          <p:nvPr/>
        </p:nvSpPr>
        <p:spPr>
          <a:xfrm>
            <a:off x="8001000" y="1952625"/>
            <a:ext cx="2476500" cy="24765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EA2BE24-A165-4A1C-866D-AC821FBF3E32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194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5E8803-3789-47A6-893F-7FEC6D012601}"/>
              </a:ext>
            </a:extLst>
          </p:cNvPr>
          <p:cNvSpPr>
            <a:spLocks noGrp="1"/>
          </p:cNvSpPr>
          <p:nvPr/>
        </p:nvSpPr>
        <p:spPr>
          <a:xfrm>
            <a:off x="8286750" y="3095625"/>
            <a:ext cx="1905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85" lnSpcReduction="10000"/>
          </a:bodyPr>
          <a:lstStyle>
            <a:def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Cambio interno o acción en el entorno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B405D96-CDB6-410C-9480-DC82B58D7CB1}"/>
              </a:ext>
            </a:extLst>
          </p:cNvPr>
          <p:cNvSpPr>
            <a:spLocks noGrp="1"/>
          </p:cNvSpPr>
          <p:nvPr/>
        </p:nvSpPr>
        <p:spPr>
          <a:xfrm>
            <a:off x="1162050" y="514350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Un impasse crea un subproblema. El aprendizaje puede convertir la solución en una nueva regla.</a:t>
            </a:r>
          </a:p>
        </p:txBody>
      </p:sp>
    </p:spTree>
    <p:extLst>
      <p:ext uri="{BB962C8B-B14F-4D97-AF65-F5344CB8AC3E}">
        <p14:creationId xmlns:p14="http://schemas.microsoft.com/office/powerpoint/2010/main" val="45997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9B303DA-DBB7-4805-B1DD-F1FDB503D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D6C16C2-D3C2-40C1-A986-59A176DBC9B8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ARQUITECTURA COGNITIVA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318D8DC-B91F-45E0-AC05-0F6FD693B398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ACT-R: modelar cómo las personas piensan y actúan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146D3C0-3F77-498F-9EBB-1F2E96B6C19A}"/>
              </a:ext>
            </a:extLst>
          </p:cNvPr>
          <p:cNvSpPr>
            <a:spLocks noGrp="1"/>
          </p:cNvSpPr>
          <p:nvPr/>
        </p:nvSpPr>
        <p:spPr>
          <a:xfrm>
            <a:off x="4619625" y="2333625"/>
            <a:ext cx="2952750" cy="1714500"/>
          </a:xfrm>
          <a:prstGeom prst="ellipse">
            <a:avLst/>
          </a:prstGeom>
          <a:solidFill>
            <a:srgbClr val="062B45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25EF06-9769-4465-9C70-AC643BEAB2AF}"/>
              </a:ext>
            </a:extLst>
          </p:cNvPr>
          <p:cNvSpPr>
            <a:spLocks noGrp="1"/>
          </p:cNvSpPr>
          <p:nvPr/>
        </p:nvSpPr>
        <p:spPr>
          <a:xfrm>
            <a:off x="5095875" y="2667000"/>
            <a:ext cx="2000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REGLAS DE</a:t>
            </a:r>
          </a:p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PRODUCCIÓN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2D7AB863-ED69-4809-B6C7-696E9799BCA4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43C6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7B2833-1628-431E-A4A8-44C5066BEFDD}"/>
              </a:ext>
            </a:extLst>
          </p:cNvPr>
          <p:cNvSpPr>
            <a:spLocks noGrp="1"/>
          </p:cNvSpPr>
          <p:nvPr/>
        </p:nvSpPr>
        <p:spPr>
          <a:xfrm>
            <a:off x="1038225" y="1952625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VISUAL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65373B4E-0956-474E-ABB0-FF416B29C8A9}"/>
              </a:ext>
            </a:extLst>
          </p:cNvPr>
          <p:cNvSpPr>
            <a:spLocks noGrp="1"/>
          </p:cNvSpPr>
          <p:nvPr/>
        </p:nvSpPr>
        <p:spPr>
          <a:xfrm>
            <a:off x="809625" y="4238625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9680B1-FE47-4B91-A0AE-DE12D0EBD969}"/>
              </a:ext>
            </a:extLst>
          </p:cNvPr>
          <p:cNvSpPr>
            <a:spLocks noGrp="1"/>
          </p:cNvSpPr>
          <p:nvPr/>
        </p:nvSpPr>
        <p:spPr>
          <a:xfrm>
            <a:off x="1038225" y="44767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65ED1B7-F986-47D6-8BE1-2392F2401B4B}"/>
              </a:ext>
            </a:extLst>
          </p:cNvPr>
          <p:cNvSpPr>
            <a:spLocks noGrp="1"/>
          </p:cNvSpPr>
          <p:nvPr/>
        </p:nvSpPr>
        <p:spPr>
          <a:xfrm>
            <a:off x="8620125" y="1714500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75FD65-38A8-46AC-B25E-E0CDE7450F81}"/>
              </a:ext>
            </a:extLst>
          </p:cNvPr>
          <p:cNvSpPr>
            <a:spLocks noGrp="1"/>
          </p:cNvSpPr>
          <p:nvPr/>
        </p:nvSpPr>
        <p:spPr>
          <a:xfrm>
            <a:off x="8848725" y="1952625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MOTOR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17F78AE0-0AC2-47EC-829D-A198737ABB7F}"/>
              </a:ext>
            </a:extLst>
          </p:cNvPr>
          <p:cNvSpPr>
            <a:spLocks noGrp="1"/>
          </p:cNvSpPr>
          <p:nvPr/>
        </p:nvSpPr>
        <p:spPr>
          <a:xfrm>
            <a:off x="8620125" y="4238625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A400F3-AE00-461E-B85C-00983B8625D9}"/>
              </a:ext>
            </a:extLst>
          </p:cNvPr>
          <p:cNvSpPr>
            <a:spLocks noGrp="1"/>
          </p:cNvSpPr>
          <p:nvPr/>
        </p:nvSpPr>
        <p:spPr>
          <a:xfrm>
            <a:off x="8848725" y="44767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2C14E"/>
                </a:solidFill>
                <a:latin typeface="Avenir Next"/>
                <a:ea typeface="Avenir Next"/>
                <a:cs typeface="Avenir Next"/>
              </a:rPr>
              <a:t>META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BDF70331-D27A-45B2-80C0-2156B6C5F62A}"/>
              </a:ext>
            </a:extLst>
          </p:cNvPr>
          <p:cNvSpPr>
            <a:spLocks noGrp="1"/>
          </p:cNvSpPr>
          <p:nvPr/>
        </p:nvSpPr>
        <p:spPr>
          <a:xfrm>
            <a:off x="3286125" y="2190750"/>
            <a:ext cx="1333500" cy="80962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0C3E8CEE-6869-486B-93D4-E398780AEBA6}"/>
              </a:ext>
            </a:extLst>
          </p:cNvPr>
          <p:cNvSpPr>
            <a:spLocks noGrp="1"/>
          </p:cNvSpPr>
          <p:nvPr/>
        </p:nvSpPr>
        <p:spPr>
          <a:xfrm flipV="1">
            <a:off x="3286125" y="3524250"/>
            <a:ext cx="1471226" cy="100012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CEE54D1D-A372-458F-A2FC-4FE2B239396C}"/>
              </a:ext>
            </a:extLst>
          </p:cNvPr>
          <p:cNvSpPr>
            <a:spLocks noGrp="1"/>
          </p:cNvSpPr>
          <p:nvPr/>
        </p:nvSpPr>
        <p:spPr>
          <a:xfrm flipV="1">
            <a:off x="7386251" y="2190750"/>
            <a:ext cx="1233874" cy="56197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84F7AD85-583D-46AB-A0E4-667AF8C212D4}"/>
              </a:ext>
            </a:extLst>
          </p:cNvPr>
          <p:cNvSpPr>
            <a:spLocks noGrp="1"/>
          </p:cNvSpPr>
          <p:nvPr/>
        </p:nvSpPr>
        <p:spPr>
          <a:xfrm>
            <a:off x="7386251" y="3595687"/>
            <a:ext cx="1233874" cy="881063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ACAE2BE-B3DC-4A58-9DE4-E2F91F62A2D0}"/>
              </a:ext>
            </a:extLst>
          </p:cNvPr>
          <p:cNvSpPr>
            <a:spLocks noGrp="1"/>
          </p:cNvSpPr>
          <p:nvPr/>
        </p:nvSpPr>
        <p:spPr>
          <a:xfrm>
            <a:off x="4000500" y="476250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ADAPTATIVO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645CE2A-981F-43A5-B1E0-FB4C4266FDBB}"/>
              </a:ext>
            </a:extLst>
          </p:cNvPr>
          <p:cNvSpPr>
            <a:spLocks noGrp="1"/>
          </p:cNvSpPr>
          <p:nvPr/>
        </p:nvSpPr>
        <p:spPr>
          <a:xfrm>
            <a:off x="3524250" y="52197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la experiencia ajusta memoria y reglas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3BC47A8-3DBF-4649-88D6-59964A2DF1AF}"/>
              </a:ext>
            </a:extLst>
          </p:cNvPr>
          <p:cNvSpPr>
            <a:spLocks noGrp="1"/>
          </p:cNvSpPr>
          <p:nvPr/>
        </p:nvSpPr>
        <p:spPr>
          <a:xfrm>
            <a:off x="6429375" y="476250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RACIONAL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928CD64-636E-484F-AC03-DA59C29B5328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usa recursos limitados según costo y utilidad</a:t>
            </a:r>
          </a:p>
        </p:txBody>
      </p:sp>
    </p:spTree>
    <p:extLst>
      <p:ext uri="{BB962C8B-B14F-4D97-AF65-F5344CB8AC3E}">
        <p14:creationId xmlns:p14="http://schemas.microsoft.com/office/powerpoint/2010/main" val="188450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5240FDF3-84BC-45C4-9009-F80A20AF0F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F3628EA-534B-4741-97F2-4EED72DF58B7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FAMILIA MARKOV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B035AD7-267F-42D7-AA87-FE03F34EEA2C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De la evolución aleatoria a la decisión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6FDD7C5-80A3-4236-8EED-1ED5C5374A67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9429750" cy="7620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E129DD-FAFE-4656-9F45-E908151900D8}"/>
              </a:ext>
            </a:extLst>
          </p:cNvPr>
          <p:cNvSpPr>
            <a:spLocks noGrp="1"/>
          </p:cNvSpPr>
          <p:nvPr/>
        </p:nvSpPr>
        <p:spPr>
          <a:xfrm>
            <a:off x="1066800" y="18669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PROCESO ESTOCÁSTICO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4059DB-390C-4FC0-BAFF-7062D7014C6D}"/>
              </a:ext>
            </a:extLst>
          </p:cNvPr>
          <p:cNvSpPr>
            <a:spLocks noGrp="1"/>
          </p:cNvSpPr>
          <p:nvPr/>
        </p:nvSpPr>
        <p:spPr>
          <a:xfrm>
            <a:off x="4229100" y="186690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Una variable cambia con incertidumbre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7521662-C7E0-47BF-A04B-A470069D542D}"/>
              </a:ext>
            </a:extLst>
          </p:cNvPr>
          <p:cNvSpPr>
            <a:spLocks noGrp="1"/>
          </p:cNvSpPr>
          <p:nvPr/>
        </p:nvSpPr>
        <p:spPr>
          <a:xfrm>
            <a:off x="1466850" y="2667000"/>
            <a:ext cx="8763000" cy="762000"/>
          </a:xfrm>
          <a:prstGeom prst="roundRect">
            <a:avLst>
              <a:gd name="adj" fmla="val 10000"/>
            </a:avLst>
          </a:prstGeom>
          <a:solidFill>
            <a:srgbClr val="D7EEF1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D8709D-0C74-4245-A7F6-7E5953A75EF8}"/>
              </a:ext>
            </a:extLst>
          </p:cNvPr>
          <p:cNvSpPr>
            <a:spLocks noGrp="1"/>
          </p:cNvSpPr>
          <p:nvPr/>
        </p:nvSpPr>
        <p:spPr>
          <a:xfrm>
            <a:off x="1733550" y="28194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PROCESO DE MARKOV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A3FF158-C785-4E30-B4BF-106A0D268A3F}"/>
              </a:ext>
            </a:extLst>
          </p:cNvPr>
          <p:cNvSpPr>
            <a:spLocks noGrp="1"/>
          </p:cNvSpPr>
          <p:nvPr/>
        </p:nvSpPr>
        <p:spPr>
          <a:xfrm>
            <a:off x="4895850" y="2819400"/>
            <a:ext cx="504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El presente resume la historia necesaria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3C685A7-1EAA-429D-B302-4498C0AC766B}"/>
              </a:ext>
            </a:extLst>
          </p:cNvPr>
          <p:cNvSpPr>
            <a:spLocks noGrp="1"/>
          </p:cNvSpPr>
          <p:nvPr/>
        </p:nvSpPr>
        <p:spPr>
          <a:xfrm>
            <a:off x="2133600" y="3619500"/>
            <a:ext cx="8096250" cy="762000"/>
          </a:xfrm>
          <a:prstGeom prst="roundRect">
            <a:avLst>
              <a:gd name="adj" fmla="val 10000"/>
            </a:avLst>
          </a:prstGeom>
          <a:solidFill>
            <a:srgbClr val="CBE8EA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E118F14-7D65-4488-804E-79FE916E70D4}"/>
              </a:ext>
            </a:extLst>
          </p:cNvPr>
          <p:cNvSpPr>
            <a:spLocks noGrp="1"/>
          </p:cNvSpPr>
          <p:nvPr/>
        </p:nvSpPr>
        <p:spPr>
          <a:xfrm>
            <a:off x="2400300" y="37719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MDP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9F0DB13-062B-4777-AC50-6ED72B3F2C43}"/>
              </a:ext>
            </a:extLst>
          </p:cNvPr>
          <p:cNvSpPr>
            <a:spLocks noGrp="1"/>
          </p:cNvSpPr>
          <p:nvPr/>
        </p:nvSpPr>
        <p:spPr>
          <a:xfrm>
            <a:off x="5562600" y="377190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819" lnSpcReduction="10000"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El agente elige acciones y recibe recompensas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E09CA8AF-D3B9-472D-A3DF-5EB697BFA3D2}"/>
              </a:ext>
            </a:extLst>
          </p:cNvPr>
          <p:cNvSpPr>
            <a:spLocks noGrp="1"/>
          </p:cNvSpPr>
          <p:nvPr/>
        </p:nvSpPr>
        <p:spPr>
          <a:xfrm>
            <a:off x="2800350" y="4572000"/>
            <a:ext cx="7429500" cy="762000"/>
          </a:xfrm>
          <a:prstGeom prst="roundRect">
            <a:avLst>
              <a:gd name="adj" fmla="val 10000"/>
            </a:avLst>
          </a:prstGeom>
          <a:solidFill>
            <a:srgbClr val="FBE5DE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0B43D5B-3BC1-4F62-9469-AD975048AFF7}"/>
              </a:ext>
            </a:extLst>
          </p:cNvPr>
          <p:cNvSpPr>
            <a:spLocks noGrp="1"/>
          </p:cNvSpPr>
          <p:nvPr/>
        </p:nvSpPr>
        <p:spPr>
          <a:xfrm>
            <a:off x="3067050" y="47244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POMDP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900AA8-0396-47F2-8502-3BEEBE64F0B8}"/>
              </a:ext>
            </a:extLst>
          </p:cNvPr>
          <p:cNvSpPr>
            <a:spLocks noGrp="1"/>
          </p:cNvSpPr>
          <p:nvPr/>
        </p:nvSpPr>
        <p:spPr>
          <a:xfrm>
            <a:off x="6229350" y="47244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960" lnSpcReduction="10000"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El agente decide sin observar el estado completo</a:t>
            </a:r>
          </a:p>
        </p:txBody>
      </p:sp>
    </p:spTree>
    <p:extLst>
      <p:ext uri="{BB962C8B-B14F-4D97-AF65-F5344CB8AC3E}">
        <p14:creationId xmlns:p14="http://schemas.microsoft.com/office/powerpoint/2010/main" val="165841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2CE20C4-D20B-4D58-BA6C-BAC869CC9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CE58B26-494B-400C-AFC5-043A1512782A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MODELO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5A12D2B-2065-4D7E-B6A5-7486601F987F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La propiedad de Markov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407937-3B10-4E3E-B399-A82036D951C6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Conocido el estado presente, la predicción del siguiente estado no necesita toda la historia.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CD1D34A-2CA3-4340-B43E-4C8C236271B1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2190750" cy="14287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68271E-1408-4353-A739-8718913A776A}"/>
              </a:ext>
            </a:extLst>
          </p:cNvPr>
          <p:cNvSpPr>
            <a:spLocks noGrp="1"/>
          </p:cNvSpPr>
          <p:nvPr/>
        </p:nvSpPr>
        <p:spPr>
          <a:xfrm>
            <a:off x="1428750" y="35242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BAJA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C7866737-0413-48D1-91AF-B84EEA0A5FEB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066800" cy="0"/>
          </a:xfrm>
          <a:prstGeom prst="line">
            <a:avLst/>
          </a:prstGeom>
          <a:noFill/>
          <a:ln w="3810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CF1D65D-79C0-4296-8744-64E0F24EAC9B}"/>
              </a:ext>
            </a:extLst>
          </p:cNvPr>
          <p:cNvSpPr>
            <a:spLocks noGrp="1"/>
          </p:cNvSpPr>
          <p:nvPr/>
        </p:nvSpPr>
        <p:spPr>
          <a:xfrm>
            <a:off x="4524375" y="3095625"/>
            <a:ext cx="2190750" cy="14287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43C6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49B991-96AA-46D3-A068-EB1FA1B2F9B3}"/>
              </a:ext>
            </a:extLst>
          </p:cNvPr>
          <p:cNvSpPr>
            <a:spLocks noGrp="1"/>
          </p:cNvSpPr>
          <p:nvPr/>
        </p:nvSpPr>
        <p:spPr>
          <a:xfrm>
            <a:off x="4810125" y="35242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MEDIA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166B944B-DA82-48DF-8B56-2D7B44FD8DD3}"/>
              </a:ext>
            </a:extLst>
          </p:cNvPr>
          <p:cNvSpPr>
            <a:spLocks noGrp="1"/>
          </p:cNvSpPr>
          <p:nvPr/>
        </p:nvSpPr>
        <p:spPr>
          <a:xfrm>
            <a:off x="6829425" y="3810000"/>
            <a:ext cx="1066800" cy="0"/>
          </a:xfrm>
          <a:prstGeom prst="line">
            <a:avLst/>
          </a:prstGeom>
          <a:noFill/>
          <a:ln w="3810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D884B64-A5FA-4C6F-A1D9-55F62801862D}"/>
              </a:ext>
            </a:extLst>
          </p:cNvPr>
          <p:cNvSpPr>
            <a:spLocks noGrp="1"/>
          </p:cNvSpPr>
          <p:nvPr/>
        </p:nvSpPr>
        <p:spPr>
          <a:xfrm>
            <a:off x="7905750" y="3095625"/>
            <a:ext cx="2190750" cy="14287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1B7BB7-5CE7-4642-95B4-702ACF732337}"/>
              </a:ext>
            </a:extLst>
          </p:cNvPr>
          <p:cNvSpPr>
            <a:spLocks noGrp="1"/>
          </p:cNvSpPr>
          <p:nvPr/>
        </p:nvSpPr>
        <p:spPr>
          <a:xfrm>
            <a:off x="8191500" y="35242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ALTA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8493FE1-DE3E-4DB5-A24C-28BACAF862E6}"/>
              </a:ext>
            </a:extLst>
          </p:cNvPr>
          <p:cNvSpPr>
            <a:spLocks noGrp="1"/>
          </p:cNvSpPr>
          <p:nvPr/>
        </p:nvSpPr>
        <p:spPr>
          <a:xfrm>
            <a:off x="3095625" y="5000625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Ejemplo: nivel de demanda por intervalo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B4B90EB-D603-441E-BFE3-72E23B5A9353}"/>
              </a:ext>
            </a:extLst>
          </p:cNvPr>
          <p:cNvSpPr>
            <a:spLocks noGrp="1"/>
          </p:cNvSpPr>
          <p:nvPr/>
        </p:nvSpPr>
        <p:spPr>
          <a:xfrm>
            <a:off x="1762125" y="5667375"/>
            <a:ext cx="866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El estado debe conservar toda variable que afecte la transición</a:t>
            </a:r>
          </a:p>
        </p:txBody>
      </p:sp>
    </p:spTree>
    <p:extLst>
      <p:ext uri="{BB962C8B-B14F-4D97-AF65-F5344CB8AC3E}">
        <p14:creationId xmlns:p14="http://schemas.microsoft.com/office/powerpoint/2010/main" val="1164493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F069670-D648-4A5F-A972-2A14194674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E45E9A-B4A5-4B66-A57A-48DFDAFF2178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DECISIÓN PARCIAL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7FF973-7E1A-459D-BBC7-7F3D4954B11D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POMDP en tres bloques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883513-F8D6-47B9-BED6-BD896D0DC8D2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MUNDO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7F7806-7B35-4710-8F77-7E48425FBEE6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Estado y transición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1FB9892-115C-47F7-AA37-42F1B3071BB0}"/>
              </a:ext>
            </a:extLst>
          </p:cNvPr>
          <p:cNvSpPr>
            <a:spLocks noGrp="1"/>
          </p:cNvSpPr>
          <p:nvPr/>
        </p:nvSpPr>
        <p:spPr>
          <a:xfrm>
            <a:off x="590550" y="3019425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S describe situaciones posibles.</a:t>
            </a:r>
          </a:p>
          <a:p>
            <a:endParaRPr b="0">
              <a:solidFill>
                <a:srgbClr val="506876"/>
              </a:solidFill>
              <a:latin typeface="Avenir Next"/>
              <a:ea typeface="Avenir Next"/>
              <a:cs typeface="Avenir Next"/>
            </a:endParaRPr>
          </a:p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T modela cómo cambian.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FB4524-9096-4A1C-B53B-22CDD1051F71}"/>
              </a:ext>
            </a:extLst>
          </p:cNvPr>
          <p:cNvSpPr>
            <a:spLocks noGrp="1"/>
          </p:cNvSpPr>
          <p:nvPr/>
        </p:nvSpPr>
        <p:spPr>
          <a:xfrm>
            <a:off x="590550" y="47720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Lo que ocurre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6E1F1995-A8CB-4847-AE8F-65B1B263961F}"/>
              </a:ext>
            </a:extLst>
          </p:cNvPr>
          <p:cNvSpPr>
            <a:spLocks noGrp="1"/>
          </p:cNvSpPr>
          <p:nvPr/>
        </p:nvSpPr>
        <p:spPr>
          <a:xfrm>
            <a:off x="4095750" y="1781175"/>
            <a:ext cx="0" cy="377190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9C93E5-81D0-47E3-AEF0-B46070B66B28}"/>
              </a:ext>
            </a:extLst>
          </p:cNvPr>
          <p:cNvSpPr>
            <a:spLocks noGrp="1"/>
          </p:cNvSpPr>
          <p:nvPr/>
        </p:nvSpPr>
        <p:spPr>
          <a:xfrm>
            <a:off x="4400550" y="1666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INTERFAZ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9F5BCD-6D06-49D3-9E75-9EAF067DC333}"/>
              </a:ext>
            </a:extLst>
          </p:cNvPr>
          <p:cNvSpPr>
            <a:spLocks noGrp="1"/>
          </p:cNvSpPr>
          <p:nvPr/>
        </p:nvSpPr>
        <p:spPr>
          <a:xfrm>
            <a:off x="4400550" y="2143125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Acción y observación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CD9B6FC-196C-49E7-86D6-85984B9AB222}"/>
              </a:ext>
            </a:extLst>
          </p:cNvPr>
          <p:cNvSpPr>
            <a:spLocks noGrp="1"/>
          </p:cNvSpPr>
          <p:nvPr/>
        </p:nvSpPr>
        <p:spPr>
          <a:xfrm>
            <a:off x="4400550" y="3019425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A contiene decisiones.</a:t>
            </a:r>
          </a:p>
          <a:p>
            <a:endParaRPr b="0">
              <a:solidFill>
                <a:srgbClr val="506876"/>
              </a:solidFill>
              <a:latin typeface="Avenir Next"/>
              <a:ea typeface="Avenir Next"/>
              <a:cs typeface="Avenir Next"/>
            </a:endParaRPr>
          </a:p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O describe evidencia parcial.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0721267-B579-4C2A-8BA9-080777526DA3}"/>
              </a:ext>
            </a:extLst>
          </p:cNvPr>
          <p:cNvSpPr>
            <a:spLocks noGrp="1"/>
          </p:cNvSpPr>
          <p:nvPr/>
        </p:nvSpPr>
        <p:spPr>
          <a:xfrm>
            <a:off x="4400550" y="47720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500" lnSpcReduction="10000"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Lo que el agente hace y percibe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22981217-C095-4E92-9070-93CFFEFB4B78}"/>
              </a:ext>
            </a:extLst>
          </p:cNvPr>
          <p:cNvSpPr>
            <a:spLocks noGrp="1"/>
          </p:cNvSpPr>
          <p:nvPr/>
        </p:nvSpPr>
        <p:spPr>
          <a:xfrm>
            <a:off x="7905750" y="1781175"/>
            <a:ext cx="0" cy="377190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B9F0CC-7B89-4AAF-A77A-211BAF5993C5}"/>
              </a:ext>
            </a:extLst>
          </p:cNvPr>
          <p:cNvSpPr>
            <a:spLocks noGrp="1"/>
          </p:cNvSpPr>
          <p:nvPr/>
        </p:nvSpPr>
        <p:spPr>
          <a:xfrm>
            <a:off x="8210550" y="1666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OBJETIVO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AD8D31-D636-4FD4-9AF6-763F56E108BF}"/>
              </a:ext>
            </a:extLst>
          </p:cNvPr>
          <p:cNvSpPr>
            <a:spLocks noGrp="1"/>
          </p:cNvSpPr>
          <p:nvPr/>
        </p:nvSpPr>
        <p:spPr>
          <a:xfrm>
            <a:off x="8210550" y="2143125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Recompensa y descuento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70CA351-73EA-4BDA-9B78-056B4C37393C}"/>
              </a:ext>
            </a:extLst>
          </p:cNvPr>
          <p:cNvSpPr>
            <a:spLocks noGrp="1"/>
          </p:cNvSpPr>
          <p:nvPr/>
        </p:nvSpPr>
        <p:spPr>
          <a:xfrm>
            <a:off x="8210550" y="3019425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R expresa consecuencias.</a:t>
            </a:r>
          </a:p>
          <a:p>
            <a:endParaRPr b="0">
              <a:solidFill>
                <a:srgbClr val="506876"/>
              </a:solidFill>
              <a:latin typeface="Avenir Next"/>
              <a:ea typeface="Avenir Next"/>
              <a:cs typeface="Avenir Next"/>
            </a:endParaRPr>
          </a:p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El descuento pondera el futuro.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F7190C8-4B39-4A28-9EFE-D7C38395C99C}"/>
              </a:ext>
            </a:extLst>
          </p:cNvPr>
          <p:cNvSpPr>
            <a:spLocks noGrp="1"/>
          </p:cNvSpPr>
          <p:nvPr/>
        </p:nvSpPr>
        <p:spPr>
          <a:xfrm>
            <a:off x="8210550" y="47720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Lo que se valora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4635370-4989-48A9-AE3D-10B28E5B7423}"/>
              </a:ext>
            </a:extLst>
          </p:cNvPr>
          <p:cNvSpPr>
            <a:spLocks noGrp="1"/>
          </p:cNvSpPr>
          <p:nvPr/>
        </p:nvSpPr>
        <p:spPr>
          <a:xfrm>
            <a:off x="2047875" y="561975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La creencia b(s) reúne la evidencia disponible para decidir</a:t>
            </a:r>
          </a:p>
        </p:txBody>
      </p:sp>
    </p:spTree>
    <p:extLst>
      <p:ext uri="{BB962C8B-B14F-4D97-AF65-F5344CB8AC3E}">
        <p14:creationId xmlns:p14="http://schemas.microsoft.com/office/powerpoint/2010/main" val="170019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673BD97D-5F50-495F-9331-EE4CA5AD69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71F1F8-CA1C-4C21-997C-36FC33AB00C5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EJEMPLO POMDP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44C8DD-B994-41F9-B724-FB57FDCF0355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Una alerta cambia la creencia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C315EB-8DC9-4736-83F0-13A89071F97B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ANTES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4B2C64-8B70-4F63-873B-696BEE00909A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2%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55A510-9EF6-42FE-A0C5-D034BE0E86EC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probabilidad inicial de condición insegura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01A3E96-6232-41C0-82DE-9E48A246BA61}"/>
              </a:ext>
            </a:extLst>
          </p:cNvPr>
          <p:cNvSpPr>
            <a:spLocks noGrp="1"/>
          </p:cNvSpPr>
          <p:nvPr/>
        </p:nvSpPr>
        <p:spPr>
          <a:xfrm>
            <a:off x="3819525" y="2809875"/>
            <a:ext cx="666750" cy="0"/>
          </a:xfrm>
          <a:prstGeom prst="line">
            <a:avLst/>
          </a:prstGeom>
          <a:noFill/>
          <a:ln w="3810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AD108C-9027-49CB-8D1E-4F45EC8E7A5A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EVIDENCIA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ACA8893-E6D0-44ED-B68D-F982185877D8}"/>
              </a:ext>
            </a:extLst>
          </p:cNvPr>
          <p:cNvSpPr>
            <a:spLocks noGrp="1"/>
          </p:cNvSpPr>
          <p:nvPr/>
        </p:nvSpPr>
        <p:spPr>
          <a:xfrm>
            <a:off x="4533900" y="2333625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90% / 5%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3D1D797-11EF-4C01-A50E-BA8D7389523A}"/>
              </a:ext>
            </a:extLst>
          </p:cNvPr>
          <p:cNvSpPr>
            <a:spLocks noGrp="1"/>
          </p:cNvSpPr>
          <p:nvPr/>
        </p:nvSpPr>
        <p:spPr>
          <a:xfrm>
            <a:off x="4533900" y="3381375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detección verdadera / falsa alarma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7606B8C8-C467-4427-8BB0-DA6494F2A609}"/>
              </a:ext>
            </a:extLst>
          </p:cNvPr>
          <p:cNvSpPr>
            <a:spLocks noGrp="1"/>
          </p:cNvSpPr>
          <p:nvPr/>
        </p:nvSpPr>
        <p:spPr>
          <a:xfrm>
            <a:off x="7629525" y="2809875"/>
            <a:ext cx="666750" cy="0"/>
          </a:xfrm>
          <a:prstGeom prst="line">
            <a:avLst/>
          </a:prstGeom>
          <a:noFill/>
          <a:ln w="3810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ADC3560-0CAE-4FF9-AF8E-1B8905D61703}"/>
              </a:ext>
            </a:extLst>
          </p:cNvPr>
          <p:cNvSpPr>
            <a:spLocks noGrp="1"/>
          </p:cNvSpPr>
          <p:nvPr/>
        </p:nvSpPr>
        <p:spPr>
          <a:xfrm>
            <a:off x="8343900" y="17145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DESPUÉS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FD789B7-3A4A-4AF4-A6B7-9A76D21FA91C}"/>
              </a:ext>
            </a:extLst>
          </p:cNvPr>
          <p:cNvSpPr>
            <a:spLocks noGrp="1"/>
          </p:cNvSpPr>
          <p:nvPr/>
        </p:nvSpPr>
        <p:spPr>
          <a:xfrm>
            <a:off x="8343900" y="2333625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26.9%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DD1E798-05F6-443D-A255-C8F3424CAF62}"/>
              </a:ext>
            </a:extLst>
          </p:cNvPr>
          <p:cNvSpPr>
            <a:spLocks noGrp="1"/>
          </p:cNvSpPr>
          <p:nvPr/>
        </p:nvSpPr>
        <p:spPr>
          <a:xfrm>
            <a:off x="8343900" y="3381375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probabilidad tras recibir la alerta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8455DDE3-9513-403F-AD3D-2DFA88703A0E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762000"/>
          </a:xfrm>
          <a:prstGeom prst="roundRect">
            <a:avLst>
              <a:gd name="adj" fmla="val 10000"/>
            </a:avLst>
          </a:prstGeom>
          <a:solidFill>
            <a:srgbClr val="062B45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C19A625-6FF5-4583-8C82-896275ED63FA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Bayes combina la creencia previa con la confiabilidad del sensor</a:t>
            </a:r>
          </a:p>
        </p:txBody>
      </p:sp>
    </p:spTree>
    <p:extLst>
      <p:ext uri="{BB962C8B-B14F-4D97-AF65-F5344CB8AC3E}">
        <p14:creationId xmlns:p14="http://schemas.microsoft.com/office/powerpoint/2010/main" val="254957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8718877-8F71-4BB3-8660-86DBDAF98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67182D-CA9C-4CF2-981D-DCCD50CFF341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UTILIDAD ESPERADA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2183C99-434D-464B-A472-8A9E1AE71700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La decisión depende del riesgo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664406-A635-4541-99D4-691AD1CE58DD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Liberar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6935054-CE5B-46F1-BE4C-3B0249C3A785}"/>
              </a:ext>
            </a:extLst>
          </p:cNvPr>
          <p:cNvSpPr>
            <a:spLocks noGrp="1"/>
          </p:cNvSpPr>
          <p:nvPr/>
        </p:nvSpPr>
        <p:spPr>
          <a:xfrm>
            <a:off x="8715375" y="17621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Inspeccionar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5AFE1C9F-FDF1-4895-9F2E-486CDD6380C7}"/>
              </a:ext>
            </a:extLst>
          </p:cNvPr>
          <p:cNvSpPr>
            <a:spLocks noGrp="1"/>
          </p:cNvSpPr>
          <p:nvPr/>
        </p:nvSpPr>
        <p:spPr>
          <a:xfrm>
            <a:off x="1714500" y="3095625"/>
            <a:ext cx="8715375" cy="0"/>
          </a:xfrm>
          <a:prstGeom prst="line">
            <a:avLst/>
          </a:prstGeom>
          <a:noFill/>
          <a:ln w="952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A3BEC80-EE69-49C7-B482-F7B7D8FF52D4}"/>
              </a:ext>
            </a:extLst>
          </p:cNvPr>
          <p:cNvSpPr>
            <a:spLocks noGrp="1"/>
          </p:cNvSpPr>
          <p:nvPr/>
        </p:nvSpPr>
        <p:spPr>
          <a:xfrm>
            <a:off x="2333625" y="2857500"/>
            <a:ext cx="476250" cy="47625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327DD18-A9E7-47D6-8C76-75DB398D50F7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476250" cy="4762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876EC3-8FE6-421B-8E65-E5A8C0521DFC}"/>
              </a:ext>
            </a:extLst>
          </p:cNvPr>
          <p:cNvSpPr>
            <a:spLocks noGrp="1"/>
          </p:cNvSpPr>
          <p:nvPr/>
        </p:nvSpPr>
        <p:spPr>
          <a:xfrm>
            <a:off x="4619625" y="2695575"/>
            <a:ext cx="800100" cy="800100"/>
          </a:xfrm>
          <a:prstGeom prst="ellipse">
            <a:avLst/>
          </a:prstGeom>
          <a:solidFill>
            <a:srgbClr val="F2C14E"/>
          </a:solidFill>
          <a:ln w="28575">
            <a:solidFill>
              <a:srgbClr val="062B4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B55079-E07C-4201-A373-745C63920040}"/>
              </a:ext>
            </a:extLst>
          </p:cNvPr>
          <p:cNvSpPr>
            <a:spLocks noGrp="1"/>
          </p:cNvSpPr>
          <p:nvPr/>
        </p:nvSpPr>
        <p:spPr>
          <a:xfrm>
            <a:off x="4619625" y="2857500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44"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1.78%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60D3E4-967F-4C26-8057-88BC9D3F8C65}"/>
              </a:ext>
            </a:extLst>
          </p:cNvPr>
          <p:cNvSpPr>
            <a:spLocks noGrp="1"/>
          </p:cNvSpPr>
          <p:nvPr/>
        </p:nvSpPr>
        <p:spPr>
          <a:xfrm>
            <a:off x="3905250" y="361950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umbral del ejemplo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07ACC49-A659-46F2-92E8-C5188BAAE4A4}"/>
              </a:ext>
            </a:extLst>
          </p:cNvPr>
          <p:cNvSpPr>
            <a:spLocks noGrp="1"/>
          </p:cNvSpPr>
          <p:nvPr/>
        </p:nvSpPr>
        <p:spPr>
          <a:xfrm>
            <a:off x="7572375" y="37147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26.9% tras la alerta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DA4FBAF-CC46-4AD8-9181-2B28B4B0E756}"/>
              </a:ext>
            </a:extLst>
          </p:cNvPr>
          <p:cNvSpPr>
            <a:spLocks noGrp="1"/>
          </p:cNvSpPr>
          <p:nvPr/>
        </p:nvSpPr>
        <p:spPr>
          <a:xfrm>
            <a:off x="1381125" y="4714875"/>
            <a:ext cx="9429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Con los costos supuestos, la inspección domina. El umbral cambia si cambian consecuencias o restricciones.</a:t>
            </a:r>
          </a:p>
        </p:txBody>
      </p:sp>
    </p:spTree>
    <p:extLst>
      <p:ext uri="{BB962C8B-B14F-4D97-AF65-F5344CB8AC3E}">
        <p14:creationId xmlns:p14="http://schemas.microsoft.com/office/powerpoint/2010/main" val="12738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E21264EB-606B-49B7-9129-389BFC7A4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35AD83-FD4A-47EE-9D9F-22D1E784DB26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APLICACIÓN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C42550-09B3-4763-9E94-B8F47C2CDD8C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Arquitectura híbrida para apoyo operacional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25F62A2-BDBE-4621-A12F-44FAC4A8F2AC}"/>
              </a:ext>
            </a:extLst>
          </p:cNvPr>
          <p:cNvSpPr>
            <a:spLocks noGrp="1"/>
          </p:cNvSpPr>
          <p:nvPr/>
        </p:nvSpPr>
        <p:spPr>
          <a:xfrm>
            <a:off x="1394460" y="1809750"/>
            <a:ext cx="533400" cy="533400"/>
          </a:xfrm>
          <a:prstGeom prst="ellipse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B8314A18-8306-4FD2-939A-13896A684E72}"/>
              </a:ext>
            </a:extLst>
          </p:cNvPr>
          <p:cNvSpPr>
            <a:spLocks noGrp="1"/>
          </p:cNvSpPr>
          <p:nvPr/>
        </p:nvSpPr>
        <p:spPr>
          <a:xfrm>
            <a:off x="1946910" y="2076450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8D8BD0-132C-4D15-907D-1091BFFCB0BB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Observar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D03427E-ABE8-481F-809F-8A8E91B27B22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sensores, reportes y sistemas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C089279-96AA-42F5-B3FF-B960369BC19B}"/>
              </a:ext>
            </a:extLst>
          </p:cNvPr>
          <p:cNvSpPr>
            <a:spLocks noGrp="1"/>
          </p:cNvSpPr>
          <p:nvPr/>
        </p:nvSpPr>
        <p:spPr>
          <a:xfrm>
            <a:off x="3611880" y="1809750"/>
            <a:ext cx="533400" cy="533400"/>
          </a:xfrm>
          <a:prstGeom prst="ellipse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3646B50C-0A19-4922-9F23-0725F6EB80F4}"/>
              </a:ext>
            </a:extLst>
          </p:cNvPr>
          <p:cNvSpPr>
            <a:spLocks noGrp="1"/>
          </p:cNvSpPr>
          <p:nvPr/>
        </p:nvSpPr>
        <p:spPr>
          <a:xfrm>
            <a:off x="4164330" y="2076450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4FE650-AA66-48C9-B09B-0975B0E1D293}"/>
              </a:ext>
            </a:extLst>
          </p:cNvPr>
          <p:cNvSpPr>
            <a:spLocks noGrp="1"/>
          </p:cNvSpPr>
          <p:nvPr/>
        </p:nvSpPr>
        <p:spPr>
          <a:xfrm>
            <a:off x="2827020" y="2514600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Interpretar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768FF7-45BE-41AD-88D9-008A0EE14DFA}"/>
              </a:ext>
            </a:extLst>
          </p:cNvPr>
          <p:cNvSpPr>
            <a:spLocks noGrp="1"/>
          </p:cNvSpPr>
          <p:nvPr/>
        </p:nvSpPr>
        <p:spPr>
          <a:xfrm>
            <a:off x="2827020" y="3124200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modelos detectan patrones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221827B-FA93-40D3-91A0-A1ACCED5BD34}"/>
              </a:ext>
            </a:extLst>
          </p:cNvPr>
          <p:cNvSpPr>
            <a:spLocks noGrp="1"/>
          </p:cNvSpPr>
          <p:nvPr/>
        </p:nvSpPr>
        <p:spPr>
          <a:xfrm>
            <a:off x="5829300" y="1809750"/>
            <a:ext cx="533400" cy="53340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1064C532-D652-4659-BDA1-4108CFDFE432}"/>
              </a:ext>
            </a:extLst>
          </p:cNvPr>
          <p:cNvSpPr>
            <a:spLocks noGrp="1"/>
          </p:cNvSpPr>
          <p:nvPr/>
        </p:nvSpPr>
        <p:spPr>
          <a:xfrm>
            <a:off x="6381750" y="2076450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70C786B-B6B9-49E9-966B-82FDCA62F783}"/>
              </a:ext>
            </a:extLst>
          </p:cNvPr>
          <p:cNvSpPr>
            <a:spLocks noGrp="1"/>
          </p:cNvSpPr>
          <p:nvPr/>
        </p:nvSpPr>
        <p:spPr>
          <a:xfrm>
            <a:off x="5044440" y="2514600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Validar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0A2A7CB-7D06-4952-9EB4-531EF2E90A59}"/>
              </a:ext>
            </a:extLst>
          </p:cNvPr>
          <p:cNvSpPr>
            <a:spLocks noGrp="1"/>
          </p:cNvSpPr>
          <p:nvPr/>
        </p:nvSpPr>
        <p:spPr>
          <a:xfrm>
            <a:off x="5044440" y="3124200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ontologías y reglas aplican contexto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FB7352C-1971-49BF-9E7A-208250CA51E3}"/>
              </a:ext>
            </a:extLst>
          </p:cNvPr>
          <p:cNvSpPr>
            <a:spLocks noGrp="1"/>
          </p:cNvSpPr>
          <p:nvPr/>
        </p:nvSpPr>
        <p:spPr>
          <a:xfrm>
            <a:off x="8046720" y="1809750"/>
            <a:ext cx="533400" cy="533400"/>
          </a:xfrm>
          <a:prstGeom prst="ellipse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FB2CEB7D-ABAD-424B-9C7D-ABA537ED16ED}"/>
              </a:ext>
            </a:extLst>
          </p:cNvPr>
          <p:cNvSpPr>
            <a:spLocks noGrp="1"/>
          </p:cNvSpPr>
          <p:nvPr/>
        </p:nvSpPr>
        <p:spPr>
          <a:xfrm>
            <a:off x="8599170" y="2076450"/>
            <a:ext cx="1645920" cy="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82308DD-E8A9-4EC1-BF56-872550EF62BB}"/>
              </a:ext>
            </a:extLst>
          </p:cNvPr>
          <p:cNvSpPr>
            <a:spLocks noGrp="1"/>
          </p:cNvSpPr>
          <p:nvPr/>
        </p:nvSpPr>
        <p:spPr>
          <a:xfrm>
            <a:off x="7261860" y="2514600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Optimizar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DDCE95-1601-4697-8A41-F5F3409D049C}"/>
              </a:ext>
            </a:extLst>
          </p:cNvPr>
          <p:cNvSpPr>
            <a:spLocks noGrp="1"/>
          </p:cNvSpPr>
          <p:nvPr/>
        </p:nvSpPr>
        <p:spPr>
          <a:xfrm>
            <a:off x="7261860" y="3124200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se comparan opciones factibles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AC05851-BC37-4917-AB3C-4B51129BC6CF}"/>
              </a:ext>
            </a:extLst>
          </p:cNvPr>
          <p:cNvSpPr>
            <a:spLocks noGrp="1"/>
          </p:cNvSpPr>
          <p:nvPr/>
        </p:nvSpPr>
        <p:spPr>
          <a:xfrm>
            <a:off x="10264140" y="1809750"/>
            <a:ext cx="533400" cy="5334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2F8658-745D-426E-A907-5CAF3A17CCC6}"/>
              </a:ext>
            </a:extLst>
          </p:cNvPr>
          <p:cNvSpPr>
            <a:spLocks noGrp="1"/>
          </p:cNvSpPr>
          <p:nvPr/>
        </p:nvSpPr>
        <p:spPr>
          <a:xfrm>
            <a:off x="9479280" y="2514600"/>
            <a:ext cx="21031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Autorizar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932291B-854E-4538-A691-4585A3B03444}"/>
              </a:ext>
            </a:extLst>
          </p:cNvPr>
          <p:cNvSpPr>
            <a:spLocks noGrp="1"/>
          </p:cNvSpPr>
          <p:nvPr/>
        </p:nvSpPr>
        <p:spPr>
          <a:xfrm>
            <a:off x="9479280" y="3124200"/>
            <a:ext cx="210312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la persona decide con evidencia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451D867-BA6B-4B95-9E7E-AF2F62C5B82C}"/>
              </a:ext>
            </a:extLst>
          </p:cNvPr>
          <p:cNvSpPr>
            <a:spLocks noGrp="1"/>
          </p:cNvSpPr>
          <p:nvPr/>
        </p:nvSpPr>
        <p:spPr>
          <a:xfrm>
            <a:off x="1524000" y="5381625"/>
            <a:ext cx="9144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El desempeño pertenece al conjunto persona + tecnología + procedimiento</a:t>
            </a:r>
          </a:p>
        </p:txBody>
      </p:sp>
    </p:spTree>
    <p:extLst>
      <p:ext uri="{BB962C8B-B14F-4D97-AF65-F5344CB8AC3E}">
        <p14:creationId xmlns:p14="http://schemas.microsoft.com/office/powerpoint/2010/main" val="18524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25E14B4E-0087-4916-959E-2F497B14A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EC754B-327B-4F60-ADEE-2EEB00709DE6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CASOS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CD527D-7711-46C7-A2D1-3887855EFE47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Tres sistemas, tres lecciones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8A8558-E282-4B22-91D5-0D51004449CB}"/>
              </a:ext>
            </a:extLst>
          </p:cNvPr>
          <p:cNvSpPr>
            <a:spLocks noGrp="1"/>
          </p:cNvSpPr>
          <p:nvPr/>
        </p:nvSpPr>
        <p:spPr>
          <a:xfrm>
            <a:off x="590550" y="1714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WATSON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D3990C1-98B9-416D-A825-6B704DEDCBDE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Hipótesis y confianza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AD3C51-80FE-4022-9CB5-1365497934C9}"/>
              </a:ext>
            </a:extLst>
          </p:cNvPr>
          <p:cNvSpPr>
            <a:spLocks noGrp="1"/>
          </p:cNvSpPr>
          <p:nvPr/>
        </p:nvSpPr>
        <p:spPr>
          <a:xfrm>
            <a:off x="590550" y="30670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Generó respuestas, reunió evidencia y decidió cuándo responder.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262983-13A4-4CC8-AB0D-24827C3A5AC6}"/>
              </a:ext>
            </a:extLst>
          </p:cNvPr>
          <p:cNvSpPr>
            <a:spLocks noGrp="1"/>
          </p:cNvSpPr>
          <p:nvPr/>
        </p:nvSpPr>
        <p:spPr>
          <a:xfrm>
            <a:off x="590550" y="48196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Lección: calibrar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DED7EB68-469C-42E0-B46C-7FB310554D09}"/>
              </a:ext>
            </a:extLst>
          </p:cNvPr>
          <p:cNvSpPr>
            <a:spLocks noGrp="1"/>
          </p:cNvSpPr>
          <p:nvPr/>
        </p:nvSpPr>
        <p:spPr>
          <a:xfrm>
            <a:off x="4095750" y="1828800"/>
            <a:ext cx="0" cy="367665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1B83E0-2B77-40F7-942B-91BF9CC6E6FF}"/>
              </a:ext>
            </a:extLst>
          </p:cNvPr>
          <p:cNvSpPr>
            <a:spLocks noGrp="1"/>
          </p:cNvSpPr>
          <p:nvPr/>
        </p:nvSpPr>
        <p:spPr>
          <a:xfrm>
            <a:off x="4400550" y="1714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ALPHAGO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D3DB4CB-E403-43F5-A182-0AAE5E4EB584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Aprendizaje y planeación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2D26A65-BC2B-436E-A6A6-4B5C5B6D755F}"/>
              </a:ext>
            </a:extLst>
          </p:cNvPr>
          <p:cNvSpPr>
            <a:spLocks noGrp="1"/>
          </p:cNvSpPr>
          <p:nvPr/>
        </p:nvSpPr>
        <p:spPr>
          <a:xfrm>
            <a:off x="4400550" y="30670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Combinó política, valor y búsqueda para anticipar jugadas.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00AD53D-AE0E-4129-B747-CE6420CB01C5}"/>
              </a:ext>
            </a:extLst>
          </p:cNvPr>
          <p:cNvSpPr>
            <a:spLocks noGrp="1"/>
          </p:cNvSpPr>
          <p:nvPr/>
        </p:nvSpPr>
        <p:spPr>
          <a:xfrm>
            <a:off x="4400550" y="48196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Lección: simular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2A03BF71-8A4E-40EB-BDEF-0E3A550389CB}"/>
              </a:ext>
            </a:extLst>
          </p:cNvPr>
          <p:cNvSpPr>
            <a:spLocks noGrp="1"/>
          </p:cNvSpPr>
          <p:nvPr/>
        </p:nvSpPr>
        <p:spPr>
          <a:xfrm>
            <a:off x="7905750" y="1828800"/>
            <a:ext cx="0" cy="367665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D0BC7F-E395-40F9-A0B8-6152612CC02F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AVIACIÓN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2C9EB32-2A4F-44D1-A2AC-8944FA28BEA5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Equipo humano–IA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D42FAC-F5B1-46E7-9CA7-EC0ADC0B2109}"/>
              </a:ext>
            </a:extLst>
          </p:cNvPr>
          <p:cNvSpPr>
            <a:spLocks noGrp="1"/>
          </p:cNvSpPr>
          <p:nvPr/>
        </p:nvSpPr>
        <p:spPr>
          <a:xfrm>
            <a:off x="8210550" y="30670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Integra automatización, restricciones y autoridad operacional.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B019A24-2508-483F-832C-D1127CBC244F}"/>
              </a:ext>
            </a:extLst>
          </p:cNvPr>
          <p:cNvSpPr>
            <a:spLocks noGrp="1"/>
          </p:cNvSpPr>
          <p:nvPr/>
        </p:nvSpPr>
        <p:spPr>
          <a:xfrm>
            <a:off x="8210550" y="48196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Lección: coordinar</a:t>
            </a:r>
          </a:p>
        </p:txBody>
      </p:sp>
    </p:spTree>
    <p:extLst>
      <p:ext uri="{BB962C8B-B14F-4D97-AF65-F5344CB8AC3E}">
        <p14:creationId xmlns:p14="http://schemas.microsoft.com/office/powerpoint/2010/main" val="77583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5D3510F-0612-4DEE-8F81-64CF95EECB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5D0B2C-2906-43F8-9144-A3A1C51A698F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7444" lnSpcReduction="2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INTERACCIÓN HUMANO–AUTOMATIZACIÓN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4B20E4-1DC9-46F2-B1A0-CF3AD72E4516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Autonomía gradual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5704405-5307-4B27-817A-1361BE1EC890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609600" cy="609600"/>
          </a:xfrm>
          <a:prstGeom prst="ellipse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0ADE60-851F-4D09-813A-6ABBEC9E89E6}"/>
              </a:ext>
            </a:extLst>
          </p:cNvPr>
          <p:cNvSpPr>
            <a:spLocks noGrp="1"/>
          </p:cNvSpPr>
          <p:nvPr/>
        </p:nvSpPr>
        <p:spPr>
          <a:xfrm>
            <a:off x="809625" y="16002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9FBB49-90A2-4B78-BF37-D007D8DDD7C1}"/>
              </a:ext>
            </a:extLst>
          </p:cNvPr>
          <p:cNvSpPr>
            <a:spLocks noGrp="1"/>
          </p:cNvSpPr>
          <p:nvPr/>
        </p:nvSpPr>
        <p:spPr>
          <a:xfrm>
            <a:off x="1714500" y="15240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INFORMAR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5150E3-C0A7-45A3-9F44-BD6E3382853C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presenta evidencia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96679E6B-8A2F-4B9F-9D20-166F340A88AF}"/>
              </a:ext>
            </a:extLst>
          </p:cNvPr>
          <p:cNvSpPr>
            <a:spLocks noGrp="1"/>
          </p:cNvSpPr>
          <p:nvPr/>
        </p:nvSpPr>
        <p:spPr>
          <a:xfrm>
            <a:off x="1114425" y="2209800"/>
            <a:ext cx="0" cy="38100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F15AEAF-C6C5-4373-ADE0-E1B31A9CCEE0}"/>
              </a:ext>
            </a:extLst>
          </p:cNvPr>
          <p:cNvSpPr>
            <a:spLocks noGrp="1"/>
          </p:cNvSpPr>
          <p:nvPr/>
        </p:nvSpPr>
        <p:spPr>
          <a:xfrm>
            <a:off x="809625" y="2590800"/>
            <a:ext cx="609600" cy="60960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2E2082-4D70-4A68-B33B-FAD1E02BF7BE}"/>
              </a:ext>
            </a:extLst>
          </p:cNvPr>
          <p:cNvSpPr>
            <a:spLocks noGrp="1"/>
          </p:cNvSpPr>
          <p:nvPr/>
        </p:nvSpPr>
        <p:spPr>
          <a:xfrm>
            <a:off x="809625" y="26670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05F4DA-F3B1-4E43-8D2D-DD4BCFE9FED0}"/>
              </a:ext>
            </a:extLst>
          </p:cNvPr>
          <p:cNvSpPr>
            <a:spLocks noGrp="1"/>
          </p:cNvSpPr>
          <p:nvPr/>
        </p:nvSpPr>
        <p:spPr>
          <a:xfrm>
            <a:off x="1714500" y="25908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RECOMENDAR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FA639F5-69E3-4FB7-98C8-DD124D6C6F30}"/>
              </a:ext>
            </a:extLst>
          </p:cNvPr>
          <p:cNvSpPr>
            <a:spLocks noGrp="1"/>
          </p:cNvSpPr>
          <p:nvPr/>
        </p:nvSpPr>
        <p:spPr>
          <a:xfrm>
            <a:off x="6000750" y="25908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compara alternativas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EF8F6AE2-4E0A-4935-8475-8CD5ED77D58E}"/>
              </a:ext>
            </a:extLst>
          </p:cNvPr>
          <p:cNvSpPr>
            <a:spLocks noGrp="1"/>
          </p:cNvSpPr>
          <p:nvPr/>
        </p:nvSpPr>
        <p:spPr>
          <a:xfrm>
            <a:off x="1114425" y="3276600"/>
            <a:ext cx="0" cy="38100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563C0A2-9C6E-4DD1-86F3-EB08F17C7B44}"/>
              </a:ext>
            </a:extLst>
          </p:cNvPr>
          <p:cNvSpPr>
            <a:spLocks noGrp="1"/>
          </p:cNvSpPr>
          <p:nvPr/>
        </p:nvSpPr>
        <p:spPr>
          <a:xfrm>
            <a:off x="809625" y="3657600"/>
            <a:ext cx="609600" cy="609600"/>
          </a:xfrm>
          <a:prstGeom prst="ellipse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F9CE503-B05F-414E-A136-A9D1E7B51504}"/>
              </a:ext>
            </a:extLst>
          </p:cNvPr>
          <p:cNvSpPr>
            <a:spLocks noGrp="1"/>
          </p:cNvSpPr>
          <p:nvPr/>
        </p:nvSpPr>
        <p:spPr>
          <a:xfrm>
            <a:off x="809625" y="37338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D9A1D0E-AC3F-43B1-B2C7-FC52D2896C67}"/>
              </a:ext>
            </a:extLst>
          </p:cNvPr>
          <p:cNvSpPr>
            <a:spLocks noGrp="1"/>
          </p:cNvSpPr>
          <p:nvPr/>
        </p:nvSpPr>
        <p:spPr>
          <a:xfrm>
            <a:off x="1714500" y="36576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EJECUTAR CON AUTORIZACIÓN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8EFDE6D-F5F8-4426-9A40-A131C47B1E04}"/>
              </a:ext>
            </a:extLst>
          </p:cNvPr>
          <p:cNvSpPr>
            <a:spLocks noGrp="1"/>
          </p:cNvSpPr>
          <p:nvPr/>
        </p:nvSpPr>
        <p:spPr>
          <a:xfrm>
            <a:off x="6000750" y="36576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requiere confirmación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3F578303-3AC6-4443-B02E-4325394B3C5C}"/>
              </a:ext>
            </a:extLst>
          </p:cNvPr>
          <p:cNvSpPr>
            <a:spLocks noGrp="1"/>
          </p:cNvSpPr>
          <p:nvPr/>
        </p:nvSpPr>
        <p:spPr>
          <a:xfrm>
            <a:off x="1114425" y="4343400"/>
            <a:ext cx="0" cy="381000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BBF522E-DFEE-4255-AE00-B3D34B9A31FA}"/>
              </a:ext>
            </a:extLst>
          </p:cNvPr>
          <p:cNvSpPr>
            <a:spLocks noGrp="1"/>
          </p:cNvSpPr>
          <p:nvPr/>
        </p:nvSpPr>
        <p:spPr>
          <a:xfrm>
            <a:off x="809625" y="4724400"/>
            <a:ext cx="609600" cy="6096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F37B00D-999D-41EB-9D63-19D7CB5D183C}"/>
              </a:ext>
            </a:extLst>
          </p:cNvPr>
          <p:cNvSpPr>
            <a:spLocks noGrp="1"/>
          </p:cNvSpPr>
          <p:nvPr/>
        </p:nvSpPr>
        <p:spPr>
          <a:xfrm>
            <a:off x="809625" y="480060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56878E0-74E4-4393-B713-56E0FEB60D4A}"/>
              </a:ext>
            </a:extLst>
          </p:cNvPr>
          <p:cNvSpPr>
            <a:spLocks noGrp="1"/>
          </p:cNvSpPr>
          <p:nvPr/>
        </p:nvSpPr>
        <p:spPr>
          <a:xfrm>
            <a:off x="1714500" y="47244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EJECUTAR DENTRO DE LÍMITES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62E40CE-0960-4A48-9CDB-DDACBFD84F51}"/>
              </a:ext>
            </a:extLst>
          </p:cNvPr>
          <p:cNvSpPr>
            <a:spLocks noGrp="1"/>
          </p:cNvSpPr>
          <p:nvPr/>
        </p:nvSpPr>
        <p:spPr>
          <a:xfrm>
            <a:off x="6000750" y="47244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opera y permite intervención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78862E9-6495-4013-8A24-475229A3A686}"/>
              </a:ext>
            </a:extLst>
          </p:cNvPr>
          <p:cNvSpPr>
            <a:spLocks noGrp="1"/>
          </p:cNvSpPr>
          <p:nvPr/>
        </p:nvSpPr>
        <p:spPr>
          <a:xfrm>
            <a:off x="1952625" y="5857875"/>
            <a:ext cx="828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Supervisar requiere contexto, tiempo y autoridad real</a:t>
            </a:r>
          </a:p>
        </p:txBody>
      </p:sp>
    </p:spTree>
    <p:extLst>
      <p:ext uri="{BB962C8B-B14F-4D97-AF65-F5344CB8AC3E}">
        <p14:creationId xmlns:p14="http://schemas.microsoft.com/office/powerpoint/2010/main" val="1361616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C02FD8C2-DFA5-4878-BD4D-017383D28A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6DBDFC-FCEC-48F8-A70F-429A900FBA52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VERIFICACIÓN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D2C60D-BEFD-41CF-BC71-EE97A5F8F575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Cuatro lentes de evaluación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C98BFB-0EF4-4CB9-93CC-99D56E319B61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133350" cy="1428750"/>
          </a:xfrm>
          <a:prstGeom prst="rect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2E5433-4549-4779-A2F9-D2BF4D56D94A}"/>
              </a:ext>
            </a:extLst>
          </p:cNvPr>
          <p:cNvSpPr>
            <a:spLocks noGrp="1"/>
          </p:cNvSpPr>
          <p:nvPr/>
        </p:nvSpPr>
        <p:spPr>
          <a:xfrm>
            <a:off x="1076325" y="176212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DESEMPEÑO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8EC003-BE11-4A00-9061-E1B9F66B1F3E}"/>
              </a:ext>
            </a:extLst>
          </p:cNvPr>
          <p:cNvSpPr>
            <a:spLocks noGrp="1"/>
          </p:cNvSpPr>
          <p:nvPr/>
        </p:nvSpPr>
        <p:spPr>
          <a:xfrm>
            <a:off x="1076325" y="2314575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Precisión, tiempo y costo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BBC17C-25F3-4C72-B8FE-5E3228E35973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133350" cy="142875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270076-56E4-4D07-BE72-1B5E4CD756B0}"/>
              </a:ext>
            </a:extLst>
          </p:cNvPr>
          <p:cNvSpPr>
            <a:spLocks noGrp="1"/>
          </p:cNvSpPr>
          <p:nvPr/>
        </p:nvSpPr>
        <p:spPr>
          <a:xfrm>
            <a:off x="6696075" y="176212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INCERTIDUMBRE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59B262-C18D-4C42-BB42-462C89CF5BCE}"/>
              </a:ext>
            </a:extLst>
          </p:cNvPr>
          <p:cNvSpPr>
            <a:spLocks noGrp="1"/>
          </p:cNvSpPr>
          <p:nvPr/>
        </p:nvSpPr>
        <p:spPr>
          <a:xfrm>
            <a:off x="6696075" y="2314575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Calibración y casos extremos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9017FF-949E-4E06-93D0-1CC75E51F4BE}"/>
              </a:ext>
            </a:extLst>
          </p:cNvPr>
          <p:cNvSpPr>
            <a:spLocks noGrp="1"/>
          </p:cNvSpPr>
          <p:nvPr/>
        </p:nvSpPr>
        <p:spPr>
          <a:xfrm>
            <a:off x="714375" y="3714750"/>
            <a:ext cx="133350" cy="142875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FE6344-3C8D-478A-9389-BE630FE00D83}"/>
              </a:ext>
            </a:extLst>
          </p:cNvPr>
          <p:cNvSpPr>
            <a:spLocks noGrp="1"/>
          </p:cNvSpPr>
          <p:nvPr/>
        </p:nvSpPr>
        <p:spPr>
          <a:xfrm>
            <a:off x="1076325" y="376237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SEGURIDAD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F42751-3284-4010-ABEF-864EF7451A8A}"/>
              </a:ext>
            </a:extLst>
          </p:cNvPr>
          <p:cNvSpPr>
            <a:spLocks noGrp="1"/>
          </p:cNvSpPr>
          <p:nvPr/>
        </p:nvSpPr>
        <p:spPr>
          <a:xfrm>
            <a:off x="1076325" y="4314825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Daño, restricciones y recuperación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7D68BEF-B43F-40F4-B60C-261BFF40E58B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133350" cy="1428750"/>
          </a:xfrm>
          <a:prstGeom prst="rect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9EB7496-83E6-4DD0-899E-20B4CB58C359}"/>
              </a:ext>
            </a:extLst>
          </p:cNvPr>
          <p:cNvSpPr>
            <a:spLocks noGrp="1"/>
          </p:cNvSpPr>
          <p:nvPr/>
        </p:nvSpPr>
        <p:spPr>
          <a:xfrm>
            <a:off x="6696075" y="376237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2C14E"/>
                </a:solidFill>
                <a:latin typeface="Avenir Next"/>
                <a:ea typeface="Avenir Next"/>
                <a:cs typeface="Avenir Next"/>
              </a:rPr>
              <a:t>USO HUMANO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C013AC9-2464-4A88-916E-9856F2B8D9A8}"/>
              </a:ext>
            </a:extLst>
          </p:cNvPr>
          <p:cNvSpPr>
            <a:spLocks noGrp="1"/>
          </p:cNvSpPr>
          <p:nvPr/>
        </p:nvSpPr>
        <p:spPr>
          <a:xfrm>
            <a:off x="6696075" y="4314825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Carga, confianza y trazabilidad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016998B-3020-4311-90BE-3F005F9CAF78}"/>
              </a:ext>
            </a:extLst>
          </p:cNvPr>
          <p:cNvSpPr>
            <a:spLocks noGrp="1"/>
          </p:cNvSpPr>
          <p:nvPr/>
        </p:nvSpPr>
        <p:spPr>
          <a:xfrm>
            <a:off x="1619250" y="58102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La exactitud promedio no describe el desempeño del sistema completo</a:t>
            </a:r>
          </a:p>
        </p:txBody>
      </p:sp>
    </p:spTree>
    <p:extLst>
      <p:ext uri="{BB962C8B-B14F-4D97-AF65-F5344CB8AC3E}">
        <p14:creationId xmlns:p14="http://schemas.microsoft.com/office/powerpoint/2010/main" val="483284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31632F20-5F10-427E-9CFC-612B417486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396A38-473A-4B84-83A1-6C35BA1B78A8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EVOLUCIÓN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E6F759-98C6-4EC9-AC0F-F496C728B6F8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Cinco hitos que cambiaron el enfoque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AB541D-183F-4440-80A6-E3C8FD29CF32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1950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E16566D-D486-423B-A4DE-56535225A383}"/>
              </a:ext>
            </a:extLst>
          </p:cNvPr>
          <p:cNvSpPr>
            <a:spLocks noGrp="1"/>
          </p:cNvSpPr>
          <p:nvPr/>
        </p:nvSpPr>
        <p:spPr>
          <a:xfrm>
            <a:off x="2524125" y="1524000"/>
            <a:ext cx="266700" cy="266700"/>
          </a:xfrm>
          <a:prstGeom prst="ellipse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5219FA5E-DB4E-4D96-99C8-23CEA8AD9681}"/>
              </a:ext>
            </a:extLst>
          </p:cNvPr>
          <p:cNvSpPr>
            <a:spLocks noGrp="1"/>
          </p:cNvSpPr>
          <p:nvPr/>
        </p:nvSpPr>
        <p:spPr>
          <a:xfrm>
            <a:off x="2657475" y="1838325"/>
            <a:ext cx="0" cy="42862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D9E659-79A8-4C86-BA72-43532BC05081}"/>
              </a:ext>
            </a:extLst>
          </p:cNvPr>
          <p:cNvSpPr>
            <a:spLocks noGrp="1"/>
          </p:cNvSpPr>
          <p:nvPr/>
        </p:nvSpPr>
        <p:spPr>
          <a:xfrm>
            <a:off x="3143250" y="14287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Prueba operacional de Turing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D9EE07-EDC6-4A4B-B246-63565AC604FC}"/>
              </a:ext>
            </a:extLst>
          </p:cNvPr>
          <p:cNvSpPr>
            <a:spLocks noGrp="1"/>
          </p:cNvSpPr>
          <p:nvPr/>
        </p:nvSpPr>
        <p:spPr>
          <a:xfrm>
            <a:off x="904875" y="226695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1956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1CF58A3-7DAE-4B66-A5CA-7E9555EEC4E8}"/>
              </a:ext>
            </a:extLst>
          </p:cNvPr>
          <p:cNvSpPr>
            <a:spLocks noGrp="1"/>
          </p:cNvSpPr>
          <p:nvPr/>
        </p:nvSpPr>
        <p:spPr>
          <a:xfrm>
            <a:off x="2524125" y="2362200"/>
            <a:ext cx="266700" cy="26670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A378D4C7-5577-46FA-A683-CB05DDBCC1DD}"/>
              </a:ext>
            </a:extLst>
          </p:cNvPr>
          <p:cNvSpPr>
            <a:spLocks noGrp="1"/>
          </p:cNvSpPr>
          <p:nvPr/>
        </p:nvSpPr>
        <p:spPr>
          <a:xfrm>
            <a:off x="2657475" y="2676525"/>
            <a:ext cx="0" cy="42862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9BB7D62-AAF1-4EAD-A8A3-763E096A1F7A}"/>
              </a:ext>
            </a:extLst>
          </p:cNvPr>
          <p:cNvSpPr>
            <a:spLocks noGrp="1"/>
          </p:cNvSpPr>
          <p:nvPr/>
        </p:nvSpPr>
        <p:spPr>
          <a:xfrm>
            <a:off x="3143250" y="22669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Dartmouth nombra el campo de la IA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85C845-1C44-4E28-B786-53A7F57128BA}"/>
              </a:ext>
            </a:extLst>
          </p:cNvPr>
          <p:cNvSpPr>
            <a:spLocks noGrp="1"/>
          </p:cNvSpPr>
          <p:nvPr/>
        </p:nvSpPr>
        <p:spPr>
          <a:xfrm>
            <a:off x="904875" y="310515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1976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6AB9011-9572-42DE-B1C1-76FD9B1A4CDC}"/>
              </a:ext>
            </a:extLst>
          </p:cNvPr>
          <p:cNvSpPr>
            <a:spLocks noGrp="1"/>
          </p:cNvSpPr>
          <p:nvPr/>
        </p:nvSpPr>
        <p:spPr>
          <a:xfrm>
            <a:off x="2524125" y="3200400"/>
            <a:ext cx="266700" cy="266700"/>
          </a:xfrm>
          <a:prstGeom prst="ellipse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5C270A6E-BA11-4909-9529-6A8814991000}"/>
              </a:ext>
            </a:extLst>
          </p:cNvPr>
          <p:cNvSpPr>
            <a:spLocks noGrp="1"/>
          </p:cNvSpPr>
          <p:nvPr/>
        </p:nvSpPr>
        <p:spPr>
          <a:xfrm>
            <a:off x="2657475" y="3514725"/>
            <a:ext cx="0" cy="42862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D008C4E-A9A8-4676-A430-1D154DBE54F7}"/>
              </a:ext>
            </a:extLst>
          </p:cNvPr>
          <p:cNvSpPr>
            <a:spLocks noGrp="1"/>
          </p:cNvSpPr>
          <p:nvPr/>
        </p:nvSpPr>
        <p:spPr>
          <a:xfrm>
            <a:off x="3143250" y="31051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Símbolos y búsqueda articulan una tradición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42AC2B6-D85E-456A-A55C-83599A645AF1}"/>
              </a:ext>
            </a:extLst>
          </p:cNvPr>
          <p:cNvSpPr>
            <a:spLocks noGrp="1"/>
          </p:cNvSpPr>
          <p:nvPr/>
        </p:nvSpPr>
        <p:spPr>
          <a:xfrm>
            <a:off x="904875" y="394335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2016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C8587DB-7978-4202-8090-96FBAFE27100}"/>
              </a:ext>
            </a:extLst>
          </p:cNvPr>
          <p:cNvSpPr>
            <a:spLocks noGrp="1"/>
          </p:cNvSpPr>
          <p:nvPr/>
        </p:nvSpPr>
        <p:spPr>
          <a:xfrm>
            <a:off x="2524125" y="4038600"/>
            <a:ext cx="266700" cy="266700"/>
          </a:xfrm>
          <a:prstGeom prst="ellipse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6026CADD-9259-4B3B-9920-00C546E167C4}"/>
              </a:ext>
            </a:extLst>
          </p:cNvPr>
          <p:cNvSpPr>
            <a:spLocks noGrp="1"/>
          </p:cNvSpPr>
          <p:nvPr/>
        </p:nvSpPr>
        <p:spPr>
          <a:xfrm>
            <a:off x="2657475" y="4352925"/>
            <a:ext cx="0" cy="428625"/>
          </a:xfrm>
          <a:prstGeom prst="line">
            <a:avLst/>
          </a:prstGeom>
          <a:noFill/>
          <a:ln w="2857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07B6200-2EF9-479B-A0D1-36C047D78B46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AlphaGo combina aprendizaje y búsqueda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888E694-192E-4413-B834-4D251D755B9D}"/>
              </a:ext>
            </a:extLst>
          </p:cNvPr>
          <p:cNvSpPr>
            <a:spLocks noGrp="1"/>
          </p:cNvSpPr>
          <p:nvPr/>
        </p:nvSpPr>
        <p:spPr>
          <a:xfrm>
            <a:off x="904875" y="478155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2C14E"/>
                </a:solidFill>
                <a:latin typeface="Avenir Next"/>
                <a:ea typeface="Avenir Next"/>
                <a:cs typeface="Avenir Next"/>
              </a:rPr>
              <a:t>2017+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62C3A0E-A5B1-4C05-B1D4-3CB97A042F48}"/>
              </a:ext>
            </a:extLst>
          </p:cNvPr>
          <p:cNvSpPr>
            <a:spLocks noGrp="1"/>
          </p:cNvSpPr>
          <p:nvPr/>
        </p:nvSpPr>
        <p:spPr>
          <a:xfrm>
            <a:off x="2524125" y="4876800"/>
            <a:ext cx="266700" cy="266700"/>
          </a:xfrm>
          <a:prstGeom prst="ellipse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E0132EA-F9B3-4A30-BB19-4D461446EDDC}"/>
              </a:ext>
            </a:extLst>
          </p:cNvPr>
          <p:cNvSpPr>
            <a:spLocks noGrp="1"/>
          </p:cNvSpPr>
          <p:nvPr/>
        </p:nvSpPr>
        <p:spPr>
          <a:xfrm>
            <a:off x="3143250" y="47815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Transformers y atención amplían la escala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F5A1DF1-38E1-44BC-8E5E-C8602A0185AB}"/>
              </a:ext>
            </a:extLst>
          </p:cNvPr>
          <p:cNvSpPr>
            <a:spLocks noGrp="1"/>
          </p:cNvSpPr>
          <p:nvPr/>
        </p:nvSpPr>
        <p:spPr>
          <a:xfrm>
            <a:off x="2143125" y="5810250"/>
            <a:ext cx="790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Hoy conviven enfoques simbólicos, probabilísticos y conexionistas</a:t>
            </a:r>
          </a:p>
        </p:txBody>
      </p:sp>
    </p:spTree>
    <p:extLst>
      <p:ext uri="{BB962C8B-B14F-4D97-AF65-F5344CB8AC3E}">
        <p14:creationId xmlns:p14="http://schemas.microsoft.com/office/powerpoint/2010/main" val="1703396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F569851B-26AB-4FFB-ADA1-347D4E589B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C26F51D-FCE2-4CC1-BA25-EF0450264277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CONTINUIDAD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2E79F69-0B62-4F28-AF2A-5C8576F72B0A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Puentes hacia el resto del módulo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F56CD2-46D8-4690-B854-962CF691244D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95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1.2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60BCF1-C40F-4DB2-BD89-373980252D65}"/>
              </a:ext>
            </a:extLst>
          </p:cNvPr>
          <p:cNvSpPr>
            <a:spLocks noGrp="1"/>
          </p:cNvSpPr>
          <p:nvPr/>
        </p:nvSpPr>
        <p:spPr>
          <a:xfrm>
            <a:off x="1952625" y="1524000"/>
            <a:ext cx="3524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ARQUITECTURAS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4F2531C-3769-4338-B0D5-50EB5FFE979F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523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organizar conocimiento y memoria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E7B6B184-C911-4331-9E8E-0C9140AF2F65}"/>
              </a:ext>
            </a:extLst>
          </p:cNvPr>
          <p:cNvSpPr>
            <a:spLocks noGrp="1"/>
          </p:cNvSpPr>
          <p:nvPr/>
        </p:nvSpPr>
        <p:spPr>
          <a:xfrm>
            <a:off x="1952625" y="2314575"/>
            <a:ext cx="9001125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951F8A-7D9F-4778-ABF2-DB71FB3B642E}"/>
              </a:ext>
            </a:extLst>
          </p:cNvPr>
          <p:cNvSpPr>
            <a:spLocks noGrp="1"/>
          </p:cNvSpPr>
          <p:nvPr/>
        </p:nvSpPr>
        <p:spPr>
          <a:xfrm>
            <a:off x="809625" y="2628900"/>
            <a:ext cx="95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1.3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E4BD55-32B4-4C97-8F90-B252E7593A1D}"/>
              </a:ext>
            </a:extLst>
          </p:cNvPr>
          <p:cNvSpPr>
            <a:spLocks noGrp="1"/>
          </p:cNvSpPr>
          <p:nvPr/>
        </p:nvSpPr>
        <p:spPr>
          <a:xfrm>
            <a:off x="1952625" y="2628900"/>
            <a:ext cx="3524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LÓGICA DIFUSA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001355-8A99-4FE0-9491-0A06645E463D}"/>
              </a:ext>
            </a:extLst>
          </p:cNvPr>
          <p:cNvSpPr>
            <a:spLocks noGrp="1"/>
          </p:cNvSpPr>
          <p:nvPr/>
        </p:nvSpPr>
        <p:spPr>
          <a:xfrm>
            <a:off x="5715000" y="2628900"/>
            <a:ext cx="523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razonar con conceptos graduales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835E6D0A-2418-419D-AB5D-E18382C0E440}"/>
              </a:ext>
            </a:extLst>
          </p:cNvPr>
          <p:cNvSpPr>
            <a:spLocks noGrp="1"/>
          </p:cNvSpPr>
          <p:nvPr/>
        </p:nvSpPr>
        <p:spPr>
          <a:xfrm>
            <a:off x="1952625" y="3419475"/>
            <a:ext cx="9001125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91779F7-392B-4197-B096-FC9CCA00345B}"/>
              </a:ext>
            </a:extLst>
          </p:cNvPr>
          <p:cNvSpPr>
            <a:spLocks noGrp="1"/>
          </p:cNvSpPr>
          <p:nvPr/>
        </p:nvSpPr>
        <p:spPr>
          <a:xfrm>
            <a:off x="809625" y="3733800"/>
            <a:ext cx="95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1.4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6C772BD-7CD0-4043-967C-7C0680473138}"/>
              </a:ext>
            </a:extLst>
          </p:cNvPr>
          <p:cNvSpPr>
            <a:spLocks noGrp="1"/>
          </p:cNvSpPr>
          <p:nvPr/>
        </p:nvSpPr>
        <p:spPr>
          <a:xfrm>
            <a:off x="1952625" y="3733800"/>
            <a:ext cx="3524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ONTOLOGÍAS Y GRAFOS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D4EE45-B0E6-41F0-A276-ED23AA976BB8}"/>
              </a:ext>
            </a:extLst>
          </p:cNvPr>
          <p:cNvSpPr>
            <a:spLocks noGrp="1"/>
          </p:cNvSpPr>
          <p:nvPr/>
        </p:nvSpPr>
        <p:spPr>
          <a:xfrm>
            <a:off x="5715000" y="3733800"/>
            <a:ext cx="523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compartir significado y relaciones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7B192422-B5EF-4542-BA76-6DE4E1491CE1}"/>
              </a:ext>
            </a:extLst>
          </p:cNvPr>
          <p:cNvSpPr>
            <a:spLocks noGrp="1"/>
          </p:cNvSpPr>
          <p:nvPr/>
        </p:nvSpPr>
        <p:spPr>
          <a:xfrm>
            <a:off x="1952625" y="4524375"/>
            <a:ext cx="9001125" cy="0"/>
          </a:xfrm>
          <a:prstGeom prst="line">
            <a:avLst/>
          </a:prstGeom>
          <a:noFill/>
          <a:ln w="9525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DE5DA15-6A7A-4821-9714-85524DB33389}"/>
              </a:ext>
            </a:extLst>
          </p:cNvPr>
          <p:cNvSpPr>
            <a:spLocks noGrp="1"/>
          </p:cNvSpPr>
          <p:nvPr/>
        </p:nvSpPr>
        <p:spPr>
          <a:xfrm>
            <a:off x="809625" y="4838700"/>
            <a:ext cx="95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1.5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4EE24A-04E3-4007-A01F-4F33CDD7FC9D}"/>
              </a:ext>
            </a:extLst>
          </p:cNvPr>
          <p:cNvSpPr>
            <a:spLocks noGrp="1"/>
          </p:cNvSpPr>
          <p:nvPr/>
        </p:nvSpPr>
        <p:spPr>
          <a:xfrm>
            <a:off x="1952625" y="4838700"/>
            <a:ext cx="3524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OPTIMIZACIÓN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E9AE5B5-0B5B-4541-89B3-20CC96842B23}"/>
              </a:ext>
            </a:extLst>
          </p:cNvPr>
          <p:cNvSpPr>
            <a:spLocks noGrp="1"/>
          </p:cNvSpPr>
          <p:nvPr/>
        </p:nvSpPr>
        <p:spPr>
          <a:xfrm>
            <a:off x="5715000" y="4838700"/>
            <a:ext cx="523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cómo elegir acciones bajo restricciones</a:t>
            </a:r>
          </a:p>
        </p:txBody>
      </p:sp>
    </p:spTree>
    <p:extLst>
      <p:ext uri="{BB962C8B-B14F-4D97-AF65-F5344CB8AC3E}">
        <p14:creationId xmlns:p14="http://schemas.microsoft.com/office/powerpoint/2010/main" val="870595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478FF7ED-C732-4900-A2A8-5D088C3189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510BCCE-56FC-4C62-BBA1-DC2E5F058496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CIERRE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E5EDED-2139-446E-BFFD-979E03595A02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Cinco ideas para conservar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E60275D-94B3-4C8D-997B-87EB5F111C3B}"/>
              </a:ext>
            </a:extLst>
          </p:cNvPr>
          <p:cNvSpPr>
            <a:spLocks noGrp="1"/>
          </p:cNvSpPr>
          <p:nvPr/>
        </p:nvSpPr>
        <p:spPr>
          <a:xfrm>
            <a:off x="952500" y="1476375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CD1E2B-C0D8-4906-86AD-6427DEB7FA29}"/>
              </a:ext>
            </a:extLst>
          </p:cNvPr>
          <p:cNvSpPr>
            <a:spLocks noGrp="1"/>
          </p:cNvSpPr>
          <p:nvPr/>
        </p:nvSpPr>
        <p:spPr>
          <a:xfrm>
            <a:off x="1809750" y="1476375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 cognición emerge de un ciclo integrado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EC745BA-5F78-4A8A-AE22-2BB5C0BC2839}"/>
              </a:ext>
            </a:extLst>
          </p:cNvPr>
          <p:cNvSpPr>
            <a:spLocks noGrp="1"/>
          </p:cNvSpPr>
          <p:nvPr/>
        </p:nvSpPr>
        <p:spPr>
          <a:xfrm>
            <a:off x="952500" y="2314575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17B55B-BC5E-4FF6-A0BD-140A25A5FA1A}"/>
              </a:ext>
            </a:extLst>
          </p:cNvPr>
          <p:cNvSpPr>
            <a:spLocks noGrp="1"/>
          </p:cNvSpPr>
          <p:nvPr/>
        </p:nvSpPr>
        <p:spPr>
          <a:xfrm>
            <a:off x="1809750" y="2314575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Toda representación selecciona y omite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EF78D1-137E-4DBD-A2ED-BBA9CCABF0C9}"/>
              </a:ext>
            </a:extLst>
          </p:cNvPr>
          <p:cNvSpPr>
            <a:spLocks noGrp="1"/>
          </p:cNvSpPr>
          <p:nvPr/>
        </p:nvSpPr>
        <p:spPr>
          <a:xfrm>
            <a:off x="952500" y="3152775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2C14E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2C14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F096EC-400B-478B-A0AC-F9E0CBEEF58B}"/>
              </a:ext>
            </a:extLst>
          </p:cNvPr>
          <p:cNvSpPr>
            <a:spLocks noGrp="1"/>
          </p:cNvSpPr>
          <p:nvPr/>
        </p:nvSpPr>
        <p:spPr>
          <a:xfrm>
            <a:off x="1809750" y="3152775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 incertidumbre exige mantener creencias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9D6585-B40A-4F0A-83B7-796A6F863E27}"/>
              </a:ext>
            </a:extLst>
          </p:cNvPr>
          <p:cNvSpPr>
            <a:spLocks noGrp="1"/>
          </p:cNvSpPr>
          <p:nvPr/>
        </p:nvSpPr>
        <p:spPr>
          <a:xfrm>
            <a:off x="952500" y="3990975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7A59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7A5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60F9EB-F10E-4973-99AC-CB385D6A53E0}"/>
              </a:ext>
            </a:extLst>
          </p:cNvPr>
          <p:cNvSpPr>
            <a:spLocks noGrp="1"/>
          </p:cNvSpPr>
          <p:nvPr/>
        </p:nvSpPr>
        <p:spPr>
          <a:xfrm>
            <a:off x="1809750" y="3990975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Las metas convierten predicciones en decisiones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DF9478-7DF9-408D-AD18-B9A43049B05E}"/>
              </a:ext>
            </a:extLst>
          </p:cNvPr>
          <p:cNvSpPr>
            <a:spLocks noGrp="1"/>
          </p:cNvSpPr>
          <p:nvPr/>
        </p:nvSpPr>
        <p:spPr>
          <a:xfrm>
            <a:off x="952500" y="4829175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DC2E24D-497D-46B8-94BA-5C2D9C5ECF1A}"/>
              </a:ext>
            </a:extLst>
          </p:cNvPr>
          <p:cNvSpPr>
            <a:spLocks noGrp="1"/>
          </p:cNvSpPr>
          <p:nvPr/>
        </p:nvSpPr>
        <p:spPr>
          <a:xfrm>
            <a:off x="1809750" y="4829175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 seguridad depende del sistema sociotécnico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F74BE1-A243-498E-8333-812149FABF53}"/>
              </a:ext>
            </a:extLst>
          </p:cNvPr>
          <p:cNvSpPr>
            <a:spLocks noGrp="1"/>
          </p:cNvSpPr>
          <p:nvPr/>
        </p:nvSpPr>
        <p:spPr>
          <a:xfrm>
            <a:off x="1285875" y="5953125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>
              <a:defRPr b="1">
                <a:solidFill>
                  <a:srgbClr val="43C6DB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43C6DB"/>
                </a:solidFill>
                <a:latin typeface="Avenir Next"/>
                <a:ea typeface="Avenir Next"/>
                <a:cs typeface="Avenir Next"/>
              </a:rPr>
              <a:t>¿Qué parte del ciclo concentra hoy el mayor riesgo en nuestros procesos?</a:t>
            </a:r>
          </a:p>
        </p:txBody>
      </p:sp>
    </p:spTree>
    <p:extLst>
      <p:ext uri="{BB962C8B-B14F-4D97-AF65-F5344CB8AC3E}">
        <p14:creationId xmlns:p14="http://schemas.microsoft.com/office/powerpoint/2010/main" val="1651128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D2602B95-2143-4E67-92F3-AE7E2E88F3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7DAE0C-5436-4843-AA01-BD4BFDA06002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278" lnSpcReduction="10000"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APÉNDICE DE DISEÑO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602021-EFB7-48E1-BD60-2C21074662C4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Sistema visual reutilizable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08F164-A990-4704-BFB9-999BC6615639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PALETA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1D94F3B-7B3B-49E3-BF1C-8981D2E46505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666750" cy="666750"/>
          </a:xfrm>
          <a:prstGeom prst="rect">
            <a:avLst/>
          </a:prstGeom>
          <a:solidFill>
            <a:srgbClr val="062B45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9800D5-DECB-474E-8418-06C7B6FAF886}"/>
              </a:ext>
            </a:extLst>
          </p:cNvPr>
          <p:cNvSpPr>
            <a:spLocks noGrp="1"/>
          </p:cNvSpPr>
          <p:nvPr/>
        </p:nvSpPr>
        <p:spPr>
          <a:xfrm>
            <a:off x="1590675" y="2143125"/>
            <a:ext cx="666750" cy="666750"/>
          </a:xfrm>
          <a:prstGeom prst="rect">
            <a:avLst/>
          </a:prstGeom>
          <a:solidFill>
            <a:srgbClr val="0E5A78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F8DCE4-F53F-4A0E-9761-FCF7ED0E5170}"/>
              </a:ext>
            </a:extLst>
          </p:cNvPr>
          <p:cNvSpPr>
            <a:spLocks noGrp="1"/>
          </p:cNvSpPr>
          <p:nvPr/>
        </p:nvSpPr>
        <p:spPr>
          <a:xfrm>
            <a:off x="2466975" y="2143125"/>
            <a:ext cx="666750" cy="6667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5B9A77-9103-43FF-B8DB-448840B501D9}"/>
              </a:ext>
            </a:extLst>
          </p:cNvPr>
          <p:cNvSpPr>
            <a:spLocks noGrp="1"/>
          </p:cNvSpPr>
          <p:nvPr/>
        </p:nvSpPr>
        <p:spPr>
          <a:xfrm>
            <a:off x="3343275" y="2143125"/>
            <a:ext cx="666750" cy="666750"/>
          </a:xfrm>
          <a:prstGeom prst="rect">
            <a:avLst/>
          </a:prstGeom>
          <a:solidFill>
            <a:srgbClr val="43C6D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38A5F88-1BA8-432C-ADB0-28C08003268A}"/>
              </a:ext>
            </a:extLst>
          </p:cNvPr>
          <p:cNvSpPr>
            <a:spLocks noGrp="1"/>
          </p:cNvSpPr>
          <p:nvPr/>
        </p:nvSpPr>
        <p:spPr>
          <a:xfrm>
            <a:off x="4219575" y="2143125"/>
            <a:ext cx="666750" cy="66675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50E2D6-E1DD-4F20-803C-9B183BC5C438}"/>
              </a:ext>
            </a:extLst>
          </p:cNvPr>
          <p:cNvSpPr>
            <a:spLocks noGrp="1"/>
          </p:cNvSpPr>
          <p:nvPr/>
        </p:nvSpPr>
        <p:spPr>
          <a:xfrm>
            <a:off x="5095875" y="2143125"/>
            <a:ext cx="666750" cy="666750"/>
          </a:xfrm>
          <a:prstGeom prst="rect">
            <a:avLst/>
          </a:prstGeom>
          <a:solidFill>
            <a:srgbClr val="F2C14E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39FBC0-D332-4FF5-9036-E01F62115819}"/>
              </a:ext>
            </a:extLst>
          </p:cNvPr>
          <p:cNvSpPr>
            <a:spLocks noGrp="1"/>
          </p:cNvSpPr>
          <p:nvPr/>
        </p:nvSpPr>
        <p:spPr>
          <a:xfrm>
            <a:off x="714375" y="3000375"/>
            <a:ext cx="533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Base marina + un acento funcional por concepto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C249BD09-B365-4320-A5F9-4A365AC4CAA8}"/>
              </a:ext>
            </a:extLst>
          </p:cNvPr>
          <p:cNvSpPr>
            <a:spLocks noGrp="1"/>
          </p:cNvSpPr>
          <p:nvPr/>
        </p:nvSpPr>
        <p:spPr>
          <a:xfrm>
            <a:off x="6238875" y="1524000"/>
            <a:ext cx="0" cy="4286250"/>
          </a:xfrm>
          <a:prstGeom prst="line">
            <a:avLst/>
          </a:prstGeom>
          <a:noFill/>
          <a:ln w="19050">
            <a:solidFill>
              <a:srgbClr val="B9D2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33CB97-9C95-4772-8183-20B9B5BF4B36}"/>
              </a:ext>
            </a:extLst>
          </p:cNvPr>
          <p:cNvSpPr>
            <a:spLocks noGrp="1"/>
          </p:cNvSpPr>
          <p:nvPr/>
        </p:nvSpPr>
        <p:spPr>
          <a:xfrm>
            <a:off x="6715125" y="1571625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JERARQUÍA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E1AE51C-D4BC-4520-A7BE-EACDF93C3ED4}"/>
              </a:ext>
            </a:extLst>
          </p:cNvPr>
          <p:cNvSpPr>
            <a:spLocks noGrp="1"/>
          </p:cNvSpPr>
          <p:nvPr/>
        </p:nvSpPr>
        <p:spPr>
          <a:xfrm>
            <a:off x="6715125" y="2143125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34 pt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808D32-2E50-4F06-A6A5-60C6E399261F}"/>
              </a:ext>
            </a:extLst>
          </p:cNvPr>
          <p:cNvSpPr>
            <a:spLocks noGrp="1"/>
          </p:cNvSpPr>
          <p:nvPr/>
        </p:nvSpPr>
        <p:spPr>
          <a:xfrm>
            <a:off x="8667750" y="214312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Título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01C6259-FFF5-498C-AE50-56219E7D79A9}"/>
              </a:ext>
            </a:extLst>
          </p:cNvPr>
          <p:cNvSpPr>
            <a:spLocks noGrp="1"/>
          </p:cNvSpPr>
          <p:nvPr/>
        </p:nvSpPr>
        <p:spPr>
          <a:xfrm>
            <a:off x="6715125" y="29527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28 pt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29F97B-9618-4BB8-8B08-00CC10215174}"/>
              </a:ext>
            </a:extLst>
          </p:cNvPr>
          <p:cNvSpPr>
            <a:spLocks noGrp="1"/>
          </p:cNvSpPr>
          <p:nvPr/>
        </p:nvSpPr>
        <p:spPr>
          <a:xfrm>
            <a:off x="8667750" y="29527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Mensaje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88AEECA-22A0-4659-9062-F6D18658259E}"/>
              </a:ext>
            </a:extLst>
          </p:cNvPr>
          <p:cNvSpPr>
            <a:spLocks noGrp="1"/>
          </p:cNvSpPr>
          <p:nvPr/>
        </p:nvSpPr>
        <p:spPr>
          <a:xfrm>
            <a:off x="6715125" y="3762375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62B45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62B45"/>
                </a:solidFill>
                <a:latin typeface="Avenir Next"/>
                <a:ea typeface="Avenir Next"/>
                <a:cs typeface="Avenir Next"/>
              </a:rPr>
              <a:t>24 pt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08593E5-BC3B-471A-A03C-3C6933D6DAB0}"/>
              </a:ext>
            </a:extLst>
          </p:cNvPr>
          <p:cNvSpPr>
            <a:spLocks noGrp="1"/>
          </p:cNvSpPr>
          <p:nvPr/>
        </p:nvSpPr>
        <p:spPr>
          <a:xfrm>
            <a:off x="8667750" y="376237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506876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506876"/>
                </a:solidFill>
                <a:latin typeface="Avenir Next"/>
                <a:ea typeface="Avenir Next"/>
                <a:cs typeface="Avenir Next"/>
              </a:rPr>
              <a:t>Cuerpo mínimo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4C16C53-0E11-4CEF-8894-CD89C4D6A83E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REGLAS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ED28790-729C-4F43-A97A-5BDC8106FC0E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5143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Una idea dominante por lámina</a:t>
            </a:r>
          </a:p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Máximo 3 conceptos, 4 puntos o 5 hitos</a:t>
            </a:r>
          </a:p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Diagramas editables y fuentes en notas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F1B6E59-9B0B-40C2-B041-3C87DB02DE4F}"/>
              </a:ext>
            </a:extLst>
          </p:cNvPr>
          <p:cNvSpPr>
            <a:spLocks noGrp="1"/>
          </p:cNvSpPr>
          <p:nvPr/>
        </p:nvSpPr>
        <p:spPr>
          <a:xfrm>
            <a:off x="6715125" y="46672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1">
                <a:solidFill>
                  <a:srgbClr val="0E5A78"/>
                </a:solidFill>
                <a:latin typeface="Avenir Next"/>
                <a:ea typeface="Avenir Next"/>
                <a:cs typeface="Avenir Next"/>
              </a:defRPr>
            </a:pPr>
            <a:r>
              <a:rPr b="1">
                <a:solidFill>
                  <a:srgbClr val="0E5A78"/>
                </a:solidFill>
                <a:latin typeface="Avenir Next"/>
                <a:ea typeface="Avenir Next"/>
                <a:cs typeface="Avenir Next"/>
              </a:rPr>
              <a:t>COMPOSICIONES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AE2B7D8-B8CD-48A2-8654-FDA2E7D6E00A}"/>
              </a:ext>
            </a:extLst>
          </p:cNvPr>
          <p:cNvSpPr>
            <a:spLocks noGrp="1"/>
          </p:cNvSpPr>
          <p:nvPr/>
        </p:nvSpPr>
        <p:spPr>
          <a:xfrm>
            <a:off x="6715125" y="5238750"/>
            <a:ext cx="4572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097" lnSpcReduction="10000"/>
          </a:bodyPr>
          <a:lstStyle>
            <a:def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Secuencia</a:t>
            </a:r>
          </a:p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Comparación</a:t>
            </a:r>
          </a:p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Matriz</a:t>
            </a:r>
          </a:p>
          <a:p>
            <a:pPr algn="l">
              <a:defRPr b="0">
                <a:solidFill>
                  <a:srgbClr val="102A3A"/>
                </a:solidFill>
                <a:latin typeface="Avenir Next"/>
                <a:ea typeface="Avenir Next"/>
                <a:cs typeface="Avenir Next"/>
              </a:defRPr>
            </a:pPr>
            <a:r>
              <a:rPr b="0">
                <a:solidFill>
                  <a:srgbClr val="102A3A"/>
                </a:solidFill>
                <a:latin typeface="Avenir Next"/>
                <a:ea typeface="Avenir Next"/>
                <a:cs typeface="Avenir Next"/>
              </a:rPr>
              <a:t>Caso</a:t>
            </a:r>
          </a:p>
        </p:txBody>
      </p:sp>
    </p:spTree>
    <p:extLst>
      <p:ext uri="{BB962C8B-B14F-4D97-AF65-F5344CB8AC3E}">
        <p14:creationId xmlns:p14="http://schemas.microsoft.com/office/powerpoint/2010/main" val="20396585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1811</Words>
  <Application>Microsoft Macintosh PowerPoint</Application>
  <DocSecurity>0</DocSecurity>
  <PresentationFormat>Panorámica</PresentationFormat>
  <Paragraphs>348</Paragraphs>
  <Slides>22</Slides>
  <Notes>22</Notes>
  <HiddenSlides>1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Aptos</vt:lpstr>
      <vt:lpstr>Avenir Next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Alan Badillo Salas</cp:lastModifiedBy>
  <cp:revision>4</cp:revision>
  <dcterms:created xsi:type="dcterms:W3CDTF">2026-10-26T02:04:00Z</dcterms:created>
  <dcterms:modified xsi:type="dcterms:W3CDTF">2026-10-26T03:16:33Z</dcterms:modified>
</cp:coreProperties>
</file>